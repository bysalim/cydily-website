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794" r:id="rId1"/>
  </p:sldMasterIdLst>
  <p:notesMasterIdLst>
    <p:notesMasterId r:id="rId12"/>
  </p:notesMasterIdLst>
  <p:sldIdLst>
    <p:sldId id="256" r:id="rId2"/>
    <p:sldId id="265" r:id="rId3"/>
    <p:sldId id="257" r:id="rId4"/>
    <p:sldId id="258" r:id="rId5"/>
    <p:sldId id="259" r:id="rId6"/>
    <p:sldId id="260" r:id="rId7"/>
    <p:sldId id="261" r:id="rId8"/>
    <p:sldId id="262" r:id="rId9"/>
    <p:sldId id="263" r:id="rId10"/>
    <p:sldId id="264" r:id="rId11"/>
  </p:sldIdLst>
  <p:sldSz cx="14630400" cy="8229600"/>
  <p:notesSz cx="8229600" cy="14630400"/>
  <p:embeddedFontLst>
    <p:embeddedFont>
      <p:font typeface="Baskerville Old Face" panose="02020602080505020303" pitchFamily="18" charset="0"/>
      <p:regular r:id="rId13"/>
    </p:embeddedFont>
    <p:embeddedFont>
      <p:font typeface="Californian FB" panose="0207040306080B030204" pitchFamily="18" charset="0"/>
      <p:regular r:id="rId14"/>
      <p:bold r:id="rId15"/>
      <p:italic r:id="rId16"/>
    </p:embeddedFont>
    <p:embeddedFont>
      <p:font typeface="Fira Mono Medium" panose="020B0609050000020004" pitchFamily="49" charset="0"/>
      <p:regular r:id="rId17"/>
    </p:embeddedFont>
    <p:embeddedFont>
      <p:font typeface="Fira Sans" panose="020B0503050000020004" pitchFamily="34" charset="0"/>
      <p:regular r:id="rId18"/>
      <p:bold r:id="rId19"/>
      <p:italic r:id="rId20"/>
      <p:boldItalic r:id="rId21"/>
    </p:embeddedFont>
    <p:embeddedFont>
      <p:font typeface="Rockwell" panose="02060603020205020403" pitchFamily="18" charset="0"/>
      <p:regular r:id="rId22"/>
      <p:bold r:id="rId23"/>
      <p:italic r:id="rId24"/>
      <p:boldItalic r:id="rId25"/>
    </p:embeddedFont>
    <p:embeddedFont>
      <p:font typeface="Rockwell Condensed" panose="02060603050405020104" pitchFamily="18" charset="0"/>
      <p:regular r:id="rId26"/>
      <p:bold r:id="rId27"/>
    </p:embeddedFont>
    <p:embeddedFont>
      <p:font typeface="Sakkal Majalla" panose="02000000000000000000" pitchFamily="2" charset="-78"/>
      <p:regular r:id="rId28"/>
      <p:bold r:id="rId29"/>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7038B"/>
    <a:srgbClr val="A541FF"/>
    <a:srgbClr val="FF4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31348"/>
    <p:restoredTop sz="94610"/>
  </p:normalViewPr>
  <p:slideViewPr>
    <p:cSldViewPr snapToGrid="0" snapToObjects="1">
      <p:cViewPr varScale="1">
        <p:scale>
          <a:sx n="64" d="100"/>
          <a:sy n="64" d="100"/>
        </p:scale>
        <p:origin x="110"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font" Target="fonts/font1.fntdata"/><Relationship Id="rId18" Type="http://schemas.openxmlformats.org/officeDocument/2006/relationships/font" Target="fonts/font6.fntdata"/><Relationship Id="rId26" Type="http://schemas.openxmlformats.org/officeDocument/2006/relationships/font" Target="fonts/font14.fntdata"/><Relationship Id="rId3" Type="http://schemas.openxmlformats.org/officeDocument/2006/relationships/slide" Target="slides/slide2.xml"/><Relationship Id="rId21" Type="http://schemas.openxmlformats.org/officeDocument/2006/relationships/font" Target="fonts/font9.fntdata"/><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5" Type="http://schemas.openxmlformats.org/officeDocument/2006/relationships/font" Target="fonts/font13.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29" Type="http://schemas.openxmlformats.org/officeDocument/2006/relationships/font" Target="fonts/font1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2.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font" Target="fonts/font11.fntdata"/><Relationship Id="rId28" Type="http://schemas.openxmlformats.org/officeDocument/2006/relationships/font" Target="fonts/font16.fntdata"/><Relationship Id="rId10" Type="http://schemas.openxmlformats.org/officeDocument/2006/relationships/slide" Target="slides/slide9.xml"/><Relationship Id="rId19" Type="http://schemas.openxmlformats.org/officeDocument/2006/relationships/font" Target="fonts/font7.fntdata"/><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font" Target="fonts/font10.fntdata"/><Relationship Id="rId27" Type="http://schemas.openxmlformats.org/officeDocument/2006/relationships/font" Target="fonts/font15.fntdata"/><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61689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sp>
        <p:nvSpPr>
          <p:cNvPr id="7" name="Rectangle 6"/>
          <p:cNvSpPr/>
          <p:nvPr/>
        </p:nvSpPr>
        <p:spPr>
          <a:xfrm>
            <a:off x="1105001" y="1616336"/>
            <a:ext cx="12267590" cy="9682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sp>
        <p:nvSpPr>
          <p:cNvPr id="8" name="Rectangle 7"/>
          <p:cNvSpPr/>
          <p:nvPr/>
        </p:nvSpPr>
        <p:spPr>
          <a:xfrm>
            <a:off x="1105001" y="5159636"/>
            <a:ext cx="12267590" cy="9682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sp>
        <p:nvSpPr>
          <p:cNvPr id="9" name="Rectangle 8"/>
          <p:cNvSpPr/>
          <p:nvPr/>
        </p:nvSpPr>
        <p:spPr>
          <a:xfrm>
            <a:off x="1105001" y="1781735"/>
            <a:ext cx="12267590" cy="329184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grpSp>
        <p:nvGrpSpPr>
          <p:cNvPr id="10" name="Group 9"/>
          <p:cNvGrpSpPr/>
          <p:nvPr/>
        </p:nvGrpSpPr>
        <p:grpSpPr>
          <a:xfrm>
            <a:off x="11579058" y="4882708"/>
            <a:ext cx="1297085" cy="129708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a:lstStyle/>
            <a:p>
              <a:endParaRPr lang="fr-FR"/>
            </a:p>
          </p:txBody>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a:lstStyle/>
            <a:p>
              <a:endParaRPr lang="fr-FR"/>
            </a:p>
          </p:txBody>
        </p:sp>
      </p:grpSp>
      <p:sp>
        <p:nvSpPr>
          <p:cNvPr id="2" name="Title 1"/>
          <p:cNvSpPr>
            <a:spLocks noGrp="1"/>
          </p:cNvSpPr>
          <p:nvPr>
            <p:ph type="ctrTitle"/>
          </p:nvPr>
        </p:nvSpPr>
        <p:spPr>
          <a:xfrm>
            <a:off x="1261872" y="1718667"/>
            <a:ext cx="11960352" cy="3642970"/>
          </a:xfrm>
        </p:spPr>
        <p:txBody>
          <a:bodyPr anchor="ctr">
            <a:noAutofit/>
          </a:bodyPr>
          <a:lstStyle>
            <a:lvl1pPr algn="l">
              <a:lnSpc>
                <a:spcPct val="80000"/>
              </a:lnSpc>
              <a:defRPr sz="11520" cap="all" baseline="0">
                <a:blipFill dpi="0" rotWithShape="1">
                  <a:blip r:embed="rId4"/>
                  <a:srcRect/>
                  <a:tile tx="6350" ty="-127000" sx="65000" sy="64000" flip="none" algn="tl"/>
                </a:blipFill>
              </a:defRPr>
            </a:lvl1pPr>
          </a:lstStyle>
          <a:p>
            <a:r>
              <a:rPr lang="fr-FR"/>
              <a:t>Modifiez le style du titre</a:t>
            </a:r>
            <a:endParaRPr lang="en-US" dirty="0"/>
          </a:p>
        </p:txBody>
      </p:sp>
      <p:sp>
        <p:nvSpPr>
          <p:cNvPr id="3" name="Subtitle 2"/>
          <p:cNvSpPr>
            <a:spLocks noGrp="1"/>
          </p:cNvSpPr>
          <p:nvPr>
            <p:ph type="subTitle" idx="1"/>
          </p:nvPr>
        </p:nvSpPr>
        <p:spPr>
          <a:xfrm>
            <a:off x="1283818" y="5266944"/>
            <a:ext cx="9469526" cy="1283818"/>
          </a:xfrm>
        </p:spPr>
        <p:txBody>
          <a:bodyPr>
            <a:normAutofit/>
          </a:bodyPr>
          <a:lstStyle>
            <a:lvl1pPr marL="0" indent="0" algn="l">
              <a:buNone/>
              <a:defRPr sz="2640">
                <a:solidFill>
                  <a:schemeClr val="tx1"/>
                </a:solidFill>
              </a:defRPr>
            </a:lvl1pPr>
            <a:lvl2pPr marL="548640" indent="0" algn="ctr">
              <a:buNone/>
              <a:defRPr sz="2640"/>
            </a:lvl2pPr>
            <a:lvl3pPr marL="1097280" indent="0" algn="ctr">
              <a:buNone/>
              <a:defRPr sz="2640"/>
            </a:lvl3pPr>
            <a:lvl4pPr marL="1645920" indent="0" algn="ctr">
              <a:buNone/>
              <a:defRPr sz="2400"/>
            </a:lvl4pPr>
            <a:lvl5pPr marL="2194560" indent="0" algn="ctr">
              <a:buNone/>
              <a:defRPr sz="2400"/>
            </a:lvl5pPr>
            <a:lvl6pPr marL="2743200" indent="0" algn="ctr">
              <a:buNone/>
              <a:defRPr sz="2400"/>
            </a:lvl6pPr>
            <a:lvl7pPr marL="3291840" indent="0" algn="ctr">
              <a:buNone/>
              <a:defRPr sz="2400"/>
            </a:lvl7pPr>
            <a:lvl8pPr marL="3840480" indent="0" algn="ctr">
              <a:buNone/>
              <a:defRPr sz="2400"/>
            </a:lvl8pPr>
            <a:lvl9pPr marL="4389120" indent="0" algn="ctr">
              <a:buNone/>
              <a:defRPr sz="2400"/>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smtClean="0"/>
              <a:t>4/8/2026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1511279" y="5147201"/>
            <a:ext cx="1432642" cy="768096"/>
          </a:xfrm>
        </p:spPr>
        <p:txBody>
          <a:bodyPr/>
          <a:lstStyle>
            <a:lvl1pPr>
              <a:defRPr sz="3360"/>
            </a:lvl1pPr>
          </a:lstStyle>
          <a:p>
            <a:fld id="{D57F1E4F-1CFF-5643-939E-02111984F565}" type="slidenum">
              <a:rPr lang="en-US" smtClean="0"/>
              <a:t>‹N°›</a:t>
            </a:fld>
            <a:endParaRPr lang="en-US" dirty="0"/>
          </a:p>
        </p:txBody>
      </p:sp>
    </p:spTree>
    <p:extLst>
      <p:ext uri="{BB962C8B-B14F-4D97-AF65-F5344CB8AC3E}">
        <p14:creationId xmlns:p14="http://schemas.microsoft.com/office/powerpoint/2010/main" val="854030527"/>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smtClean="0"/>
              <a:t>4/8/2026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‹N°›</a:t>
            </a:fld>
            <a:endParaRPr lang="en-US" dirty="0"/>
          </a:p>
        </p:txBody>
      </p:sp>
    </p:spTree>
    <p:extLst>
      <p:ext uri="{BB962C8B-B14F-4D97-AF65-F5344CB8AC3E}">
        <p14:creationId xmlns:p14="http://schemas.microsoft.com/office/powerpoint/2010/main" val="1613353353"/>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spTree>
      <p:nvGrpSpPr>
        <p:cNvPr id="1" name=""/>
        <p:cNvGrpSpPr/>
        <p:nvPr/>
      </p:nvGrpSpPr>
      <p:grpSpPr>
        <a:xfrm>
          <a:off x="0" y="0"/>
          <a:ext cx="0" cy="0"/>
          <a:chOff x="0" y="0"/>
          <a:chExt cx="0" cy="0"/>
        </a:xfrm>
      </p:grpSpPr>
      <p:sp>
        <p:nvSpPr>
          <p:cNvPr id="7" name="Rectangle 6"/>
          <p:cNvSpPr/>
          <p:nvPr/>
        </p:nvSpPr>
        <p:spPr>
          <a:xfrm>
            <a:off x="0" y="5901587"/>
            <a:ext cx="14630400" cy="2328012"/>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sp>
        <p:nvSpPr>
          <p:cNvPr id="2" name="Title 1"/>
          <p:cNvSpPr>
            <a:spLocks noGrp="1"/>
          </p:cNvSpPr>
          <p:nvPr>
            <p:ph type="title"/>
          </p:nvPr>
        </p:nvSpPr>
        <p:spPr>
          <a:xfrm>
            <a:off x="2600554" y="1470355"/>
            <a:ext cx="11137392" cy="4224528"/>
          </a:xfrm>
        </p:spPr>
        <p:txBody>
          <a:bodyPr anchor="ctr">
            <a:normAutofit/>
          </a:bodyPr>
          <a:lstStyle>
            <a:lvl1pPr>
              <a:lnSpc>
                <a:spcPct val="80000"/>
              </a:lnSpc>
              <a:defRPr sz="9600" b="0"/>
            </a:lvl1pPr>
          </a:lstStyle>
          <a:p>
            <a:r>
              <a:rPr lang="fr-FR"/>
              <a:t>Modifiez le style du titre</a:t>
            </a:r>
            <a:endParaRPr lang="en-US" dirty="0"/>
          </a:p>
        </p:txBody>
      </p:sp>
      <p:sp>
        <p:nvSpPr>
          <p:cNvPr id="3" name="Text Placeholder 2"/>
          <p:cNvSpPr>
            <a:spLocks noGrp="1"/>
          </p:cNvSpPr>
          <p:nvPr>
            <p:ph type="body" idx="1"/>
          </p:nvPr>
        </p:nvSpPr>
        <p:spPr>
          <a:xfrm>
            <a:off x="2598929" y="6024067"/>
            <a:ext cx="10863072" cy="1280160"/>
          </a:xfrm>
        </p:spPr>
        <p:txBody>
          <a:bodyPr anchor="t">
            <a:normAutofit/>
          </a:bodyPr>
          <a:lstStyle>
            <a:lvl1pPr marL="0" indent="0">
              <a:buNone/>
              <a:defRPr sz="2400">
                <a:solidFill>
                  <a:schemeClr val="tx1"/>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a:xfrm>
            <a:off x="10312401" y="7527341"/>
            <a:ext cx="3173171" cy="438150"/>
          </a:xfrm>
        </p:spPr>
        <p:txBody>
          <a:bodyPr/>
          <a:lstStyle/>
          <a:p>
            <a:fld id="{9796027F-7875-4030-9381-8BD8C4F21935}" type="datetimeFigureOut">
              <a:rPr lang="en-US" smtClean="0"/>
              <a:t>4/8/2026</a:t>
            </a:fld>
            <a:endParaRPr lang="en-US" dirty="0"/>
          </a:p>
        </p:txBody>
      </p:sp>
      <p:sp>
        <p:nvSpPr>
          <p:cNvPr id="5" name="Footer Placeholder 4"/>
          <p:cNvSpPr>
            <a:spLocks noGrp="1"/>
          </p:cNvSpPr>
          <p:nvPr>
            <p:ph type="ftr" sz="quarter" idx="11"/>
          </p:nvPr>
        </p:nvSpPr>
        <p:spPr>
          <a:xfrm>
            <a:off x="2619249" y="7527341"/>
            <a:ext cx="7593178" cy="438150"/>
          </a:xfrm>
        </p:spPr>
        <p:txBody>
          <a:bodyPr/>
          <a:lstStyle/>
          <a:p>
            <a:endParaRPr lang="en-US" dirty="0"/>
          </a:p>
        </p:txBody>
      </p:sp>
      <p:grpSp>
        <p:nvGrpSpPr>
          <p:cNvPr id="8" name="Group 7"/>
          <p:cNvGrpSpPr/>
          <p:nvPr/>
        </p:nvGrpSpPr>
        <p:grpSpPr>
          <a:xfrm>
            <a:off x="1076879" y="2791018"/>
            <a:ext cx="1297085" cy="129708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a:lstStyle/>
            <a:p>
              <a:endParaRPr lang="fr-FR"/>
            </a:p>
          </p:txBody>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a:lstStyle/>
            <a:p>
              <a:endParaRPr lang="fr-FR"/>
            </a:p>
          </p:txBody>
        </p:sp>
      </p:grpSp>
      <p:sp>
        <p:nvSpPr>
          <p:cNvPr id="6" name="Slide Number Placeholder 5"/>
          <p:cNvSpPr>
            <a:spLocks noGrp="1"/>
          </p:cNvSpPr>
          <p:nvPr>
            <p:ph type="sldNum" sz="quarter" idx="12"/>
          </p:nvPr>
        </p:nvSpPr>
        <p:spPr>
          <a:xfrm>
            <a:off x="1012442" y="3007360"/>
            <a:ext cx="1425958" cy="864398"/>
          </a:xfrm>
        </p:spPr>
        <p:txBody>
          <a:bodyPr/>
          <a:lstStyle>
            <a:lvl1pPr>
              <a:defRPr sz="3360"/>
            </a:lvl1pPr>
          </a:lstStyle>
          <a:p>
            <a:fld id="{D57F1E4F-1CFF-5643-939E-02111984F565}" type="slidenum">
              <a:rPr lang="en-US" smtClean="0"/>
              <a:t>‹N°›</a:t>
            </a:fld>
            <a:endParaRPr lang="en-US" dirty="0"/>
          </a:p>
        </p:txBody>
      </p:sp>
    </p:spTree>
    <p:extLst>
      <p:ext uri="{BB962C8B-B14F-4D97-AF65-F5344CB8AC3E}">
        <p14:creationId xmlns:p14="http://schemas.microsoft.com/office/powerpoint/2010/main" val="1276832109"/>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1283818" y="2633472"/>
            <a:ext cx="5705856" cy="4773168"/>
          </a:xfrm>
        </p:spPr>
        <p:txBody>
          <a:bodyPr/>
          <a:lstStyle>
            <a:lvl1pPr>
              <a:defRPr sz="2400"/>
            </a:lvl1pPr>
            <a:lvl2pPr>
              <a:defRPr sz="2160"/>
            </a:lvl2pPr>
            <a:lvl3pPr>
              <a:defRPr sz="1920"/>
            </a:lvl3pPr>
            <a:lvl4pPr>
              <a:defRPr sz="1920"/>
            </a:lvl4pPr>
            <a:lvl5pPr>
              <a:defRPr sz="1920"/>
            </a:lvl5pPr>
            <a:lvl6pPr>
              <a:defRPr sz="1920"/>
            </a:lvl6pPr>
            <a:lvl7pPr>
              <a:defRPr sz="1920"/>
            </a:lvl7pPr>
            <a:lvl8pPr>
              <a:defRPr sz="1920"/>
            </a:lvl8pPr>
            <a:lvl9pPr>
              <a:defRPr sz="192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7637069" y="2633472"/>
            <a:ext cx="5705856" cy="4773168"/>
          </a:xfrm>
        </p:spPr>
        <p:txBody>
          <a:bodyPr/>
          <a:lstStyle>
            <a:lvl1pPr>
              <a:defRPr sz="2400"/>
            </a:lvl1pPr>
            <a:lvl2pPr>
              <a:defRPr sz="2160"/>
            </a:lvl2pPr>
            <a:lvl3pPr>
              <a:defRPr sz="1920"/>
            </a:lvl3pPr>
            <a:lvl4pPr>
              <a:defRPr sz="1920"/>
            </a:lvl4pPr>
            <a:lvl5pPr>
              <a:defRPr sz="1920"/>
            </a:lvl5pPr>
            <a:lvl6pPr>
              <a:defRPr sz="1920"/>
            </a:lvl6pPr>
            <a:lvl7pPr>
              <a:defRPr sz="1920"/>
            </a:lvl7pPr>
            <a:lvl8pPr>
              <a:defRPr sz="1920"/>
            </a:lvl8pPr>
            <a:lvl9pPr>
              <a:defRPr sz="192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4AAD347D-5ACD-4C99-B74B-A9C85AD731AF}" type="datetimeFigureOut">
              <a:rPr lang="en-US" smtClean="0"/>
              <a:t>4/8/2026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‹N°›</a:t>
            </a:fld>
            <a:endParaRPr lang="en-US" dirty="0"/>
          </a:p>
        </p:txBody>
      </p:sp>
    </p:spTree>
    <p:extLst>
      <p:ext uri="{BB962C8B-B14F-4D97-AF65-F5344CB8AC3E}">
        <p14:creationId xmlns:p14="http://schemas.microsoft.com/office/powerpoint/2010/main" val="1224841647"/>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fr-FR"/>
              <a:t>Modifiez le style du titre</a:t>
            </a:r>
            <a:endParaRPr lang="en-US" dirty="0"/>
          </a:p>
        </p:txBody>
      </p:sp>
      <p:sp>
        <p:nvSpPr>
          <p:cNvPr id="3" name="Text Placeholder 2"/>
          <p:cNvSpPr>
            <a:spLocks noGrp="1"/>
          </p:cNvSpPr>
          <p:nvPr>
            <p:ph type="body" idx="1"/>
          </p:nvPr>
        </p:nvSpPr>
        <p:spPr>
          <a:xfrm>
            <a:off x="1280160" y="2457907"/>
            <a:ext cx="5705856" cy="768096"/>
          </a:xfrm>
        </p:spPr>
        <p:txBody>
          <a:bodyPr anchor="ctr">
            <a:normAutofit/>
          </a:bodyPr>
          <a:lstStyle>
            <a:lvl1pPr marL="0" indent="0">
              <a:buNone/>
              <a:defRPr sz="2400" b="1">
                <a:solidFill>
                  <a:schemeClr val="accent1">
                    <a:lumMod val="75000"/>
                  </a:schemeClr>
                </a:solidFill>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fr-FR"/>
              <a:t>Cliquez pour modifier les styles du texte du masque</a:t>
            </a:r>
          </a:p>
        </p:txBody>
      </p:sp>
      <p:sp>
        <p:nvSpPr>
          <p:cNvPr id="4" name="Content Placeholder 3"/>
          <p:cNvSpPr>
            <a:spLocks noGrp="1"/>
          </p:cNvSpPr>
          <p:nvPr>
            <p:ph sz="half" idx="2"/>
          </p:nvPr>
        </p:nvSpPr>
        <p:spPr>
          <a:xfrm>
            <a:off x="1283818" y="3291840"/>
            <a:ext cx="5705856" cy="3950208"/>
          </a:xfrm>
        </p:spPr>
        <p:txBody>
          <a:bodyPr/>
          <a:lstStyle>
            <a:lvl1pPr>
              <a:defRPr sz="2400"/>
            </a:lvl1pPr>
            <a:lvl2pPr>
              <a:defRPr sz="2160"/>
            </a:lvl2pPr>
            <a:lvl3pPr>
              <a:defRPr sz="1920"/>
            </a:lvl3pPr>
            <a:lvl4pPr>
              <a:defRPr sz="1920"/>
            </a:lvl4pPr>
            <a:lvl5pPr>
              <a:defRPr sz="1920"/>
            </a:lvl5pPr>
            <a:lvl6pPr>
              <a:defRPr sz="1920"/>
            </a:lvl6pPr>
            <a:lvl7pPr>
              <a:defRPr sz="1920"/>
            </a:lvl7pPr>
            <a:lvl8pPr>
              <a:defRPr sz="1920"/>
            </a:lvl8pPr>
            <a:lvl9pPr>
              <a:defRPr sz="192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7637069" y="2457907"/>
            <a:ext cx="5705856" cy="768096"/>
          </a:xfrm>
        </p:spPr>
        <p:txBody>
          <a:bodyPr anchor="ctr">
            <a:normAutofit/>
          </a:bodyPr>
          <a:lstStyle>
            <a:lvl1pPr marL="0" indent="0">
              <a:buNone/>
              <a:defRPr sz="2400" b="1">
                <a:solidFill>
                  <a:schemeClr val="accent1">
                    <a:lumMod val="75000"/>
                  </a:schemeClr>
                </a:solidFill>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fr-FR"/>
              <a:t>Cliquez pour modifier les styles du texte du masque</a:t>
            </a:r>
          </a:p>
        </p:txBody>
      </p:sp>
      <p:sp>
        <p:nvSpPr>
          <p:cNvPr id="6" name="Content Placeholder 5"/>
          <p:cNvSpPr>
            <a:spLocks noGrp="1"/>
          </p:cNvSpPr>
          <p:nvPr>
            <p:ph sz="quarter" idx="4"/>
          </p:nvPr>
        </p:nvSpPr>
        <p:spPr>
          <a:xfrm>
            <a:off x="7637069" y="3291840"/>
            <a:ext cx="5705856" cy="3950208"/>
          </a:xfrm>
        </p:spPr>
        <p:txBody>
          <a:bodyPr/>
          <a:lstStyle>
            <a:lvl1pPr>
              <a:defRPr sz="2400"/>
            </a:lvl1pPr>
            <a:lvl2pPr>
              <a:defRPr sz="2160"/>
            </a:lvl2pPr>
            <a:lvl3pPr>
              <a:defRPr sz="1920"/>
            </a:lvl3pPr>
            <a:lvl4pPr>
              <a:defRPr sz="1920"/>
            </a:lvl4pPr>
            <a:lvl5pPr>
              <a:defRPr sz="1920"/>
            </a:lvl5pPr>
            <a:lvl6pPr>
              <a:defRPr sz="1920"/>
            </a:lvl6pPr>
            <a:lvl7pPr>
              <a:defRPr sz="1920"/>
            </a:lvl7pPr>
            <a:lvl8pPr>
              <a:defRPr sz="1920"/>
            </a:lvl8pPr>
            <a:lvl9pPr>
              <a:defRPr sz="192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4AAD347D-5ACD-4C99-B74B-A9C85AD731AF}" type="datetimeFigureOut">
              <a:rPr lang="en-US" smtClean="0"/>
              <a:t>4/8/2026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smtClean="0"/>
              <a:t>‹N°›</a:t>
            </a:fld>
            <a:endParaRPr lang="en-US" dirty="0"/>
          </a:p>
        </p:txBody>
      </p:sp>
    </p:spTree>
    <p:extLst>
      <p:ext uri="{BB962C8B-B14F-4D97-AF65-F5344CB8AC3E}">
        <p14:creationId xmlns:p14="http://schemas.microsoft.com/office/powerpoint/2010/main" val="998393760"/>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4509A250-FF31-4206-8172-F9D3106AACB1}" type="datetimeFigureOut">
              <a:rPr lang="en-US" smtClean="0"/>
              <a:t>4/8/2026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‹N°›</a:t>
            </a:fld>
            <a:endParaRPr lang="en-US" dirty="0"/>
          </a:p>
        </p:txBody>
      </p:sp>
    </p:spTree>
    <p:extLst>
      <p:ext uri="{BB962C8B-B14F-4D97-AF65-F5344CB8AC3E}">
        <p14:creationId xmlns:p14="http://schemas.microsoft.com/office/powerpoint/2010/main" val="1263774827"/>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509A250-FF31-4206-8172-F9D3106AACB1}" type="datetimeFigureOut">
              <a:rPr lang="en-US" smtClean="0"/>
              <a:t>4/8/2026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02111984F565}" type="slidenum">
              <a:rPr lang="en-US" smtClean="0"/>
              <a:t>‹N°›</a:t>
            </a:fld>
            <a:endParaRPr lang="en-US" dirty="0"/>
          </a:p>
        </p:txBody>
      </p:sp>
    </p:spTree>
    <p:extLst>
      <p:ext uri="{BB962C8B-B14F-4D97-AF65-F5344CB8AC3E}">
        <p14:creationId xmlns:p14="http://schemas.microsoft.com/office/powerpoint/2010/main" val="3374222162"/>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spTree>
      <p:nvGrpSpPr>
        <p:cNvPr id="1" name=""/>
        <p:cNvGrpSpPr/>
        <p:nvPr/>
      </p:nvGrpSpPr>
      <p:grpSpPr>
        <a:xfrm>
          <a:off x="0" y="0"/>
          <a:ext cx="0" cy="0"/>
          <a:chOff x="0" y="0"/>
          <a:chExt cx="0" cy="0"/>
        </a:xfrm>
      </p:grpSpPr>
      <p:sp>
        <p:nvSpPr>
          <p:cNvPr id="8" name="Rectangle 7"/>
          <p:cNvSpPr/>
          <p:nvPr/>
        </p:nvSpPr>
        <p:spPr>
          <a:xfrm>
            <a:off x="9964489" y="1"/>
            <a:ext cx="4665911" cy="82295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sp>
        <p:nvSpPr>
          <p:cNvPr id="2" name="Title 1"/>
          <p:cNvSpPr>
            <a:spLocks noGrp="1"/>
          </p:cNvSpPr>
          <p:nvPr>
            <p:ph type="title"/>
          </p:nvPr>
        </p:nvSpPr>
        <p:spPr>
          <a:xfrm>
            <a:off x="10259568" y="822960"/>
            <a:ext cx="3840480" cy="2084832"/>
          </a:xfrm>
        </p:spPr>
        <p:txBody>
          <a:bodyPr anchor="b">
            <a:normAutofit/>
          </a:bodyPr>
          <a:lstStyle>
            <a:lvl1pPr>
              <a:defRPr sz="3840" b="1"/>
            </a:lvl1pPr>
          </a:lstStyle>
          <a:p>
            <a:r>
              <a:rPr lang="fr-FR"/>
              <a:t>Modifiez le style du titre</a:t>
            </a:r>
            <a:endParaRPr lang="en-US" dirty="0"/>
          </a:p>
        </p:txBody>
      </p:sp>
      <p:sp>
        <p:nvSpPr>
          <p:cNvPr id="3" name="Content Placeholder 2"/>
          <p:cNvSpPr>
            <a:spLocks noGrp="1"/>
          </p:cNvSpPr>
          <p:nvPr>
            <p:ph idx="1"/>
          </p:nvPr>
        </p:nvSpPr>
        <p:spPr>
          <a:xfrm>
            <a:off x="1005840" y="822960"/>
            <a:ext cx="8054035" cy="6024067"/>
          </a:xfrm>
        </p:spPr>
        <p:txBody>
          <a:bodyPr/>
          <a:lstStyle>
            <a:lvl1pPr>
              <a:defRPr sz="2400"/>
            </a:lvl1pPr>
            <a:lvl2pPr>
              <a:defRPr sz="2160"/>
            </a:lvl2pPr>
            <a:lvl3pPr>
              <a:defRPr sz="1920"/>
            </a:lvl3pPr>
            <a:lvl4pPr>
              <a:defRPr sz="1920"/>
            </a:lvl4pPr>
            <a:lvl5pPr>
              <a:defRPr sz="1920"/>
            </a:lvl5pPr>
            <a:lvl6pPr>
              <a:defRPr sz="1920"/>
            </a:lvl6pPr>
            <a:lvl7pPr>
              <a:defRPr sz="1920"/>
            </a:lvl7pPr>
            <a:lvl8pPr>
              <a:defRPr sz="1920"/>
            </a:lvl8pPr>
            <a:lvl9pPr>
              <a:defRPr sz="192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10259568" y="2907792"/>
            <a:ext cx="3840480" cy="3950208"/>
          </a:xfrm>
        </p:spPr>
        <p:txBody>
          <a:bodyPr>
            <a:normAutofit/>
          </a:bodyPr>
          <a:lstStyle>
            <a:lvl1pPr marL="0" indent="0">
              <a:lnSpc>
                <a:spcPct val="100000"/>
              </a:lnSpc>
              <a:spcBef>
                <a:spcPts val="1200"/>
              </a:spcBef>
              <a:buNone/>
              <a:defRPr sz="1680">
                <a:solidFill>
                  <a:schemeClr val="accent1">
                    <a:lumMod val="75000"/>
                  </a:schemeClr>
                </a:solidFill>
              </a:defRPr>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4AAD347D-5ACD-4C99-B74B-A9C85AD731AF}" type="datetimeFigureOut">
              <a:rPr lang="en-US" smtClean="0"/>
              <a:t>4/8/2026</a:t>
            </a:fld>
            <a:endParaRPr lang="en-US" dirty="0"/>
          </a:p>
        </p:txBody>
      </p:sp>
      <p:sp>
        <p:nvSpPr>
          <p:cNvPr id="6" name="Footer Placeholder 5"/>
          <p:cNvSpPr>
            <a:spLocks noGrp="1"/>
          </p:cNvSpPr>
          <p:nvPr>
            <p:ph type="ftr" sz="quarter" idx="11"/>
          </p:nvPr>
        </p:nvSpPr>
        <p:spPr/>
        <p:txBody>
          <a:bodyPr/>
          <a:lstStyle/>
          <a:p>
            <a:endParaRPr lang="en-US" dirty="0"/>
          </a:p>
        </p:txBody>
      </p:sp>
      <p:grpSp>
        <p:nvGrpSpPr>
          <p:cNvPr id="9" name="Group 8"/>
          <p:cNvGrpSpPr>
            <a:grpSpLocks noChangeAspect="1"/>
          </p:cNvGrpSpPr>
          <p:nvPr/>
        </p:nvGrpSpPr>
        <p:grpSpPr>
          <a:xfrm>
            <a:off x="13682070" y="7475617"/>
            <a:ext cx="548640" cy="54864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a:lstStyle/>
            <a:p>
              <a:endParaRPr lang="fr-FR"/>
            </a:p>
          </p:txBody>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txBody>
            <a:bodyPr/>
            <a:lstStyle/>
            <a:p>
              <a:endParaRPr lang="fr-FR"/>
            </a:p>
          </p:txBody>
        </p:sp>
      </p:grpSp>
      <p:sp>
        <p:nvSpPr>
          <p:cNvPr id="7" name="Slide Number Placeholder 6"/>
          <p:cNvSpPr>
            <a:spLocks noGrp="1"/>
          </p:cNvSpPr>
          <p:nvPr>
            <p:ph type="sldNum" sz="quarter" idx="12"/>
          </p:nvPr>
        </p:nvSpPr>
        <p:spPr/>
        <p:txBody>
          <a:bodyPr/>
          <a:lstStyle/>
          <a:p>
            <a:fld id="{D57F1E4F-1CFF-5643-939E-02111984F565}" type="slidenum">
              <a:rPr lang="en-US" smtClean="0"/>
              <a:t>‹N°›</a:t>
            </a:fld>
            <a:endParaRPr lang="en-US" dirty="0"/>
          </a:p>
        </p:txBody>
      </p:sp>
    </p:spTree>
    <p:extLst>
      <p:ext uri="{BB962C8B-B14F-4D97-AF65-F5344CB8AC3E}">
        <p14:creationId xmlns:p14="http://schemas.microsoft.com/office/powerpoint/2010/main" val="1174645554"/>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11" name="Rectangle 10"/>
          <p:cNvSpPr/>
          <p:nvPr/>
        </p:nvSpPr>
        <p:spPr>
          <a:xfrm>
            <a:off x="9964489" y="1"/>
            <a:ext cx="4665911" cy="82295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sp>
        <p:nvSpPr>
          <p:cNvPr id="2" name="Title 1"/>
          <p:cNvSpPr>
            <a:spLocks noGrp="1"/>
          </p:cNvSpPr>
          <p:nvPr>
            <p:ph type="title"/>
          </p:nvPr>
        </p:nvSpPr>
        <p:spPr>
          <a:xfrm>
            <a:off x="10259568" y="822960"/>
            <a:ext cx="3840480" cy="2084832"/>
          </a:xfrm>
        </p:spPr>
        <p:txBody>
          <a:bodyPr anchor="b">
            <a:normAutofit/>
          </a:bodyPr>
          <a:lstStyle>
            <a:lvl1pPr>
              <a:defRPr sz="3840" b="1"/>
            </a:lvl1pPr>
          </a:lstStyle>
          <a:p>
            <a:r>
              <a:rPr lang="fr-FR"/>
              <a:t>Modifiez le style du titre</a:t>
            </a:r>
            <a:endParaRPr lang="en-US" dirty="0"/>
          </a:p>
        </p:txBody>
      </p:sp>
      <p:sp>
        <p:nvSpPr>
          <p:cNvPr id="3" name="Picture Placeholder 2"/>
          <p:cNvSpPr>
            <a:spLocks noGrp="1" noChangeAspect="1"/>
          </p:cNvSpPr>
          <p:nvPr>
            <p:ph type="pic" idx="1"/>
          </p:nvPr>
        </p:nvSpPr>
        <p:spPr>
          <a:xfrm>
            <a:off x="0" y="0"/>
            <a:ext cx="9964488" cy="8229600"/>
          </a:xfrm>
          <a:solidFill>
            <a:schemeClr val="tx2">
              <a:lumMod val="20000"/>
              <a:lumOff val="80000"/>
            </a:schemeClr>
          </a:solidFill>
        </p:spPr>
        <p:txBody>
          <a:bodyPr anchor="t"/>
          <a:lstStyle>
            <a:lvl1pPr marL="0" indent="0">
              <a:buNone/>
              <a:defRPr sz="3840"/>
            </a:lvl1pPr>
            <a:lvl2pPr marL="548640" indent="0">
              <a:buNone/>
              <a:defRPr sz="3360"/>
            </a:lvl2pPr>
            <a:lvl3pPr marL="1097280" indent="0">
              <a:buNone/>
              <a:defRPr sz="2880"/>
            </a:lvl3pPr>
            <a:lvl4pPr marL="1645920" indent="0">
              <a:buNone/>
              <a:defRPr sz="2400"/>
            </a:lvl4pPr>
            <a:lvl5pPr marL="2194560" indent="0">
              <a:buNone/>
              <a:defRPr sz="2400"/>
            </a:lvl5pPr>
            <a:lvl6pPr marL="2743200" indent="0">
              <a:buNone/>
              <a:defRPr sz="2400"/>
            </a:lvl6pPr>
            <a:lvl7pPr marL="3291840" indent="0">
              <a:buNone/>
              <a:defRPr sz="2400"/>
            </a:lvl7pPr>
            <a:lvl8pPr marL="3840480" indent="0">
              <a:buNone/>
              <a:defRPr sz="2400"/>
            </a:lvl8pPr>
            <a:lvl9pPr marL="4389120" indent="0">
              <a:buNone/>
              <a:defRPr sz="2400"/>
            </a:lvl9pPr>
          </a:lstStyle>
          <a:p>
            <a:r>
              <a:rPr lang="fr-FR"/>
              <a:t>Cliquez sur l'icône pour ajouter une image</a:t>
            </a:r>
            <a:endParaRPr lang="en-US" dirty="0"/>
          </a:p>
        </p:txBody>
      </p:sp>
      <p:sp>
        <p:nvSpPr>
          <p:cNvPr id="4" name="Text Placeholder 3"/>
          <p:cNvSpPr>
            <a:spLocks noGrp="1"/>
          </p:cNvSpPr>
          <p:nvPr>
            <p:ph type="body" sz="half" idx="2"/>
          </p:nvPr>
        </p:nvSpPr>
        <p:spPr>
          <a:xfrm>
            <a:off x="10259568" y="2907792"/>
            <a:ext cx="3840480" cy="3950208"/>
          </a:xfrm>
        </p:spPr>
        <p:txBody>
          <a:bodyPr>
            <a:normAutofit/>
          </a:bodyPr>
          <a:lstStyle>
            <a:lvl1pPr marL="0" indent="0">
              <a:lnSpc>
                <a:spcPct val="100000"/>
              </a:lnSpc>
              <a:spcBef>
                <a:spcPts val="1200"/>
              </a:spcBef>
              <a:buNone/>
              <a:defRPr sz="1680">
                <a:solidFill>
                  <a:schemeClr val="accent1">
                    <a:lumMod val="75000"/>
                  </a:schemeClr>
                </a:solidFill>
              </a:defRPr>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4509A250-FF31-4206-8172-F9D3106AACB1}" type="datetimeFigureOut">
              <a:rPr lang="en-US" smtClean="0"/>
              <a:t>4/8/2026</a:t>
            </a:fld>
            <a:endParaRPr lang="en-US" dirty="0"/>
          </a:p>
        </p:txBody>
      </p:sp>
      <p:grpSp>
        <p:nvGrpSpPr>
          <p:cNvPr id="8" name="Group 7"/>
          <p:cNvGrpSpPr>
            <a:grpSpLocks noChangeAspect="1"/>
          </p:cNvGrpSpPr>
          <p:nvPr/>
        </p:nvGrpSpPr>
        <p:grpSpPr>
          <a:xfrm>
            <a:off x="13682070" y="7475617"/>
            <a:ext cx="548640" cy="54864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a:lstStyle/>
            <a:p>
              <a:endParaRPr lang="fr-FR"/>
            </a:p>
          </p:txBody>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txBody>
            <a:bodyPr/>
            <a:lstStyle/>
            <a:p>
              <a:endParaRPr lang="fr-FR"/>
            </a:p>
          </p:txBody>
        </p:sp>
      </p:grpSp>
      <p:sp>
        <p:nvSpPr>
          <p:cNvPr id="7" name="Slide Number Placeholder 6"/>
          <p:cNvSpPr>
            <a:spLocks noGrp="1"/>
          </p:cNvSpPr>
          <p:nvPr>
            <p:ph type="sldNum" sz="quarter" idx="12"/>
          </p:nvPr>
        </p:nvSpPr>
        <p:spPr/>
        <p:txBody>
          <a:bodyPr/>
          <a:lstStyle/>
          <a:p>
            <a:fld id="{D57F1E4F-1CFF-5643-939E-02111984F565}" type="slidenum">
              <a:rPr lang="en-US" smtClean="0"/>
              <a:t>‹N°›</a:t>
            </a:fld>
            <a:endParaRPr lang="en-US" dirty="0"/>
          </a:p>
        </p:txBody>
      </p:sp>
    </p:spTree>
    <p:extLst>
      <p:ext uri="{BB962C8B-B14F-4D97-AF65-F5344CB8AC3E}">
        <p14:creationId xmlns:p14="http://schemas.microsoft.com/office/powerpoint/2010/main" val="2650839463"/>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smtClean="0"/>
              <a:t>4/8/2026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‹N°›</a:t>
            </a:fld>
            <a:endParaRPr lang="en-US" dirty="0"/>
          </a:p>
        </p:txBody>
      </p:sp>
    </p:spTree>
    <p:extLst>
      <p:ext uri="{BB962C8B-B14F-4D97-AF65-F5344CB8AC3E}">
        <p14:creationId xmlns:p14="http://schemas.microsoft.com/office/powerpoint/2010/main" val="109898387"/>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469880" y="640080"/>
            <a:ext cx="3063240" cy="6766560"/>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1280160" y="640080"/>
            <a:ext cx="9006840" cy="6766560"/>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smtClean="0"/>
              <a:t>4/8/2026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‹N°›</a:t>
            </a:fld>
            <a:endParaRPr lang="en-US" dirty="0"/>
          </a:p>
        </p:txBody>
      </p:sp>
    </p:spTree>
    <p:extLst>
      <p:ext uri="{BB962C8B-B14F-4D97-AF65-F5344CB8AC3E}">
        <p14:creationId xmlns:p14="http://schemas.microsoft.com/office/powerpoint/2010/main" val="3863986012"/>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lide 1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2707507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Slide 2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935650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lide 3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42069410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Slide 4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19730255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Slide 5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93614176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Slide 6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48122162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Slide 7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7320116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Slide 8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36636582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Slide 9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4485584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3.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microsoft.com/office/2007/relationships/hdphoto" Target="../media/hdphoto1.wdp"/><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83818" y="581558"/>
            <a:ext cx="12070080" cy="1931213"/>
          </a:xfrm>
          <a:prstGeom prst="rect">
            <a:avLst/>
          </a:prstGeom>
        </p:spPr>
        <p:txBody>
          <a:bodyPr vert="horz" lIns="91440" tIns="45720" rIns="91440" bIns="45720" rtlCol="0" anchor="ctr">
            <a:normAutofit/>
          </a:bodyPr>
          <a:lstStyle/>
          <a:p>
            <a:r>
              <a:rPr lang="fr-FR"/>
              <a:t>Modifiez le style du titre</a:t>
            </a:r>
            <a:endParaRPr lang="en-US" dirty="0"/>
          </a:p>
        </p:txBody>
      </p:sp>
      <p:sp>
        <p:nvSpPr>
          <p:cNvPr id="3" name="Text Placeholder 2"/>
          <p:cNvSpPr>
            <a:spLocks noGrp="1"/>
          </p:cNvSpPr>
          <p:nvPr>
            <p:ph type="body" idx="1"/>
          </p:nvPr>
        </p:nvSpPr>
        <p:spPr>
          <a:xfrm>
            <a:off x="1283818" y="2545690"/>
            <a:ext cx="12070080" cy="4860950"/>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9557309" y="7527341"/>
            <a:ext cx="3928262" cy="438150"/>
          </a:xfrm>
          <a:prstGeom prst="rect">
            <a:avLst/>
          </a:prstGeom>
        </p:spPr>
        <p:txBody>
          <a:bodyPr vert="horz" lIns="91440" tIns="45720" rIns="91440" bIns="45720" rtlCol="0" anchor="ctr"/>
          <a:lstStyle>
            <a:lvl1pPr algn="r">
              <a:defRPr sz="1320">
                <a:solidFill>
                  <a:schemeClr val="tx2"/>
                </a:solidFill>
              </a:defRPr>
            </a:lvl1pPr>
          </a:lstStyle>
          <a:p>
            <a:fld id="{4AAD347D-5ACD-4C99-B74B-A9C85AD731AF}" type="datetimeFigureOut">
              <a:rPr lang="en-US" smtClean="0"/>
              <a:t>4/8/2026</a:t>
            </a:fld>
            <a:endParaRPr lang="en-US" dirty="0"/>
          </a:p>
        </p:txBody>
      </p:sp>
      <p:sp>
        <p:nvSpPr>
          <p:cNvPr id="5" name="Footer Placeholder 4"/>
          <p:cNvSpPr>
            <a:spLocks noGrp="1"/>
          </p:cNvSpPr>
          <p:nvPr>
            <p:ph type="ftr" sz="quarter" idx="3"/>
          </p:nvPr>
        </p:nvSpPr>
        <p:spPr>
          <a:xfrm>
            <a:off x="1305763" y="7527341"/>
            <a:ext cx="7593178" cy="438150"/>
          </a:xfrm>
          <a:prstGeom prst="rect">
            <a:avLst/>
          </a:prstGeom>
        </p:spPr>
        <p:txBody>
          <a:bodyPr vert="horz" lIns="91440" tIns="45720" rIns="91440" bIns="45720" rtlCol="0" anchor="ctr"/>
          <a:lstStyle>
            <a:lvl1pPr algn="l">
              <a:defRPr sz="1320">
                <a:solidFill>
                  <a:schemeClr val="tx2"/>
                </a:solidFill>
              </a:defRPr>
            </a:lvl1pPr>
          </a:lstStyle>
          <a:p>
            <a:endParaRPr lang="en-US" dirty="0"/>
          </a:p>
        </p:txBody>
      </p:sp>
      <p:grpSp>
        <p:nvGrpSpPr>
          <p:cNvPr id="7" name="Group 6"/>
          <p:cNvGrpSpPr>
            <a:grpSpLocks noChangeAspect="1"/>
          </p:cNvGrpSpPr>
          <p:nvPr/>
        </p:nvGrpSpPr>
        <p:grpSpPr>
          <a:xfrm>
            <a:off x="13682070" y="7475617"/>
            <a:ext cx="548640" cy="548640"/>
            <a:chOff x="11361456" y="6195813"/>
            <a:chExt cx="548640" cy="548640"/>
          </a:xfrm>
        </p:grpSpPr>
        <p:sp>
          <p:nvSpPr>
            <p:cNvPr id="8" name="Oval 7"/>
            <p:cNvSpPr/>
            <p:nvPr/>
          </p:nvSpPr>
          <p:spPr>
            <a:xfrm>
              <a:off x="11361456" y="6195813"/>
              <a:ext cx="548640" cy="548640"/>
            </a:xfrm>
            <a:prstGeom prst="ellipse">
              <a:avLst/>
            </a:prstGeom>
            <a:blipFill dpi="0" rotWithShape="1">
              <a:blip r:embed="rId22">
                <a:duotone>
                  <a:schemeClr val="accent1">
                    <a:shade val="45000"/>
                    <a:satMod val="135000"/>
                  </a:schemeClr>
                  <a:prstClr val="white"/>
                </a:duotone>
                <a:extLst>
                  <a:ext uri="{BEBA8EAE-BF5A-486C-A8C5-ECC9F3942E4B}">
                    <a14:imgProps xmlns:a14="http://schemas.microsoft.com/office/drawing/2010/main">
                      <a14:imgLayer r:embed="rId23">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a:lstStyle/>
            <a:p>
              <a:endParaRPr lang="fr-FR"/>
            </a:p>
          </p:txBody>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txBody>
            <a:bodyPr/>
            <a:lstStyle/>
            <a:p>
              <a:endParaRPr lang="fr-FR"/>
            </a:p>
          </p:txBody>
        </p:sp>
      </p:grpSp>
      <p:sp>
        <p:nvSpPr>
          <p:cNvPr id="6" name="Slide Number Placeholder 5"/>
          <p:cNvSpPr>
            <a:spLocks noGrp="1"/>
          </p:cNvSpPr>
          <p:nvPr>
            <p:ph type="sldNum" sz="quarter" idx="4"/>
          </p:nvPr>
        </p:nvSpPr>
        <p:spPr>
          <a:xfrm>
            <a:off x="13573354" y="7527341"/>
            <a:ext cx="768096" cy="438150"/>
          </a:xfrm>
          <a:prstGeom prst="rect">
            <a:avLst/>
          </a:prstGeom>
        </p:spPr>
        <p:txBody>
          <a:bodyPr vert="horz" lIns="91440" tIns="45720" rIns="91440" bIns="45720" rtlCol="0" anchor="ctr"/>
          <a:lstStyle>
            <a:lvl1pPr algn="ctr">
              <a:defRPr sz="1680" b="1">
                <a:solidFill>
                  <a:srgbClr val="FFFFFF"/>
                </a:solidFill>
                <a:latin typeface="+mj-lt"/>
              </a:defRPr>
            </a:lvl1pPr>
          </a:lstStyle>
          <a:p>
            <a:fld id="{D57F1E4F-1CFF-5643-939E-02111984F565}" type="slidenum">
              <a:rPr lang="en-US" smtClean="0"/>
              <a:t>‹N°›</a:t>
            </a:fld>
            <a:endParaRPr lang="en-US" dirty="0"/>
          </a:p>
        </p:txBody>
      </p:sp>
    </p:spTree>
    <p:extLst>
      <p:ext uri="{BB962C8B-B14F-4D97-AF65-F5344CB8AC3E}">
        <p14:creationId xmlns:p14="http://schemas.microsoft.com/office/powerpoint/2010/main" val="3711769394"/>
      </p:ext>
    </p:extLst>
  </p:cSld>
  <p:clrMap bg1="lt1" tx1="dk1" bg2="lt2" tx2="dk2" accent1="accent1" accent2="accent2" accent3="accent3" accent4="accent4" accent5="accent5" accent6="accent6" hlink="hlink" folHlink="folHlink"/>
  <p:sldLayoutIdLst>
    <p:sldLayoutId id="2147483795" r:id="rId1"/>
    <p:sldLayoutId id="2147483796" r:id="rId2"/>
    <p:sldLayoutId id="2147483797" r:id="rId3"/>
    <p:sldLayoutId id="2147483798" r:id="rId4"/>
    <p:sldLayoutId id="2147483799" r:id="rId5"/>
    <p:sldLayoutId id="2147483800" r:id="rId6"/>
    <p:sldLayoutId id="2147483801" r:id="rId7"/>
    <p:sldLayoutId id="2147483802" r:id="rId8"/>
    <p:sldLayoutId id="2147483803" r:id="rId9"/>
    <p:sldLayoutId id="2147483804" r:id="rId10"/>
    <p:sldLayoutId id="2147483805" r:id="rId11"/>
    <p:sldLayoutId id="2147483806" r:id="rId12"/>
    <p:sldLayoutId id="2147483807" r:id="rId13"/>
    <p:sldLayoutId id="2147483808" r:id="rId14"/>
    <p:sldLayoutId id="2147483809" r:id="rId15"/>
    <p:sldLayoutId id="2147483810" r:id="rId16"/>
    <p:sldLayoutId id="2147483811" r:id="rId17"/>
    <p:sldLayoutId id="2147483812" r:id="rId18"/>
    <p:sldLayoutId id="2147483813" r:id="rId19"/>
    <p:sldLayoutId id="2147483814" r:id="rId20"/>
  </p:sldLayoutIdLst>
  <p:hf sldNum="0" hdr="0" ftr="0" dt="0"/>
  <p:txStyles>
    <p:titleStyle>
      <a:lvl1pPr algn="l" defTabSz="1097280" rtl="0" eaLnBrk="1" latinLnBrk="0" hangingPunct="1">
        <a:lnSpc>
          <a:spcPct val="90000"/>
        </a:lnSpc>
        <a:spcBef>
          <a:spcPct val="0"/>
        </a:spcBef>
        <a:buNone/>
        <a:defRPr sz="6480" kern="1200" cap="all" baseline="0">
          <a:blipFill>
            <a:blip r:embed="rId24">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219456" indent="-219456" algn="l" defTabSz="1097280" rtl="0" eaLnBrk="1" latinLnBrk="0" hangingPunct="1">
        <a:lnSpc>
          <a:spcPct val="90000"/>
        </a:lnSpc>
        <a:spcBef>
          <a:spcPts val="1440"/>
        </a:spcBef>
        <a:buClr>
          <a:schemeClr val="accent1">
            <a:lumMod val="75000"/>
          </a:schemeClr>
        </a:buClr>
        <a:buSzPct val="85000"/>
        <a:buFont typeface="Wingdings" pitchFamily="2" charset="2"/>
        <a:buChar char="§"/>
        <a:defRPr sz="2400" kern="1200">
          <a:solidFill>
            <a:schemeClr val="tx1"/>
          </a:solidFill>
          <a:latin typeface="+mn-lt"/>
          <a:ea typeface="+mn-ea"/>
          <a:cs typeface="+mn-cs"/>
        </a:defRPr>
      </a:lvl1pPr>
      <a:lvl2pPr marL="548640" indent="-219456" algn="l" defTabSz="1097280" rtl="0" eaLnBrk="1" latinLnBrk="0" hangingPunct="1">
        <a:lnSpc>
          <a:spcPct val="90000"/>
        </a:lnSpc>
        <a:spcBef>
          <a:spcPts val="480"/>
        </a:spcBef>
        <a:spcAft>
          <a:spcPts val="240"/>
        </a:spcAft>
        <a:buClr>
          <a:schemeClr val="accent1">
            <a:lumMod val="75000"/>
          </a:schemeClr>
        </a:buClr>
        <a:buSzPct val="85000"/>
        <a:buFont typeface="Wingdings" pitchFamily="2" charset="2"/>
        <a:buChar char="§"/>
        <a:defRPr sz="2160" kern="1200">
          <a:solidFill>
            <a:schemeClr val="tx1"/>
          </a:solidFill>
          <a:latin typeface="+mn-lt"/>
          <a:ea typeface="+mn-ea"/>
          <a:cs typeface="+mn-cs"/>
        </a:defRPr>
      </a:lvl2pPr>
      <a:lvl3pPr marL="877824" indent="-219456" algn="l" defTabSz="1097280" rtl="0" eaLnBrk="1" latinLnBrk="0" hangingPunct="1">
        <a:lnSpc>
          <a:spcPct val="90000"/>
        </a:lnSpc>
        <a:spcBef>
          <a:spcPts val="480"/>
        </a:spcBef>
        <a:spcAft>
          <a:spcPts val="240"/>
        </a:spcAft>
        <a:buClr>
          <a:schemeClr val="accent1">
            <a:lumMod val="75000"/>
          </a:schemeClr>
        </a:buClr>
        <a:buSzPct val="85000"/>
        <a:buFont typeface="Wingdings" pitchFamily="2" charset="2"/>
        <a:buChar char="§"/>
        <a:defRPr sz="1920" kern="1200">
          <a:solidFill>
            <a:schemeClr val="tx1"/>
          </a:solidFill>
          <a:latin typeface="+mn-lt"/>
          <a:ea typeface="+mn-ea"/>
          <a:cs typeface="+mn-cs"/>
        </a:defRPr>
      </a:lvl3pPr>
      <a:lvl4pPr marL="1207008" indent="-219456" algn="l" defTabSz="1097280" rtl="0" eaLnBrk="1" latinLnBrk="0" hangingPunct="1">
        <a:lnSpc>
          <a:spcPct val="90000"/>
        </a:lnSpc>
        <a:spcBef>
          <a:spcPts val="480"/>
        </a:spcBef>
        <a:spcAft>
          <a:spcPts val="240"/>
        </a:spcAft>
        <a:buClr>
          <a:schemeClr val="accent1">
            <a:lumMod val="75000"/>
          </a:schemeClr>
        </a:buClr>
        <a:buSzPct val="85000"/>
        <a:buFont typeface="Wingdings" pitchFamily="2" charset="2"/>
        <a:buChar char="§"/>
        <a:defRPr sz="1920" kern="1200">
          <a:solidFill>
            <a:schemeClr val="tx1"/>
          </a:solidFill>
          <a:latin typeface="+mn-lt"/>
          <a:ea typeface="+mn-ea"/>
          <a:cs typeface="+mn-cs"/>
        </a:defRPr>
      </a:lvl4pPr>
      <a:lvl5pPr marL="1536192" indent="-219456" algn="l" defTabSz="1097280" rtl="0" eaLnBrk="1" latinLnBrk="0" hangingPunct="1">
        <a:lnSpc>
          <a:spcPct val="90000"/>
        </a:lnSpc>
        <a:spcBef>
          <a:spcPts val="480"/>
        </a:spcBef>
        <a:spcAft>
          <a:spcPts val="240"/>
        </a:spcAft>
        <a:buClr>
          <a:schemeClr val="accent1">
            <a:lumMod val="75000"/>
          </a:schemeClr>
        </a:buClr>
        <a:buSzPct val="85000"/>
        <a:buFont typeface="Wingdings" pitchFamily="2" charset="2"/>
        <a:buChar char="§"/>
        <a:defRPr sz="1920" kern="1200">
          <a:solidFill>
            <a:schemeClr val="tx1"/>
          </a:solidFill>
          <a:latin typeface="+mn-lt"/>
          <a:ea typeface="+mn-ea"/>
          <a:cs typeface="+mn-cs"/>
        </a:defRPr>
      </a:lvl5pPr>
      <a:lvl6pPr marL="1920000" indent="-274320" algn="l" defTabSz="1097280" rtl="0" eaLnBrk="1" latinLnBrk="0" hangingPunct="1">
        <a:lnSpc>
          <a:spcPct val="90000"/>
        </a:lnSpc>
        <a:spcBef>
          <a:spcPts val="480"/>
        </a:spcBef>
        <a:spcAft>
          <a:spcPts val="240"/>
        </a:spcAft>
        <a:buClr>
          <a:schemeClr val="accent1">
            <a:lumMod val="75000"/>
          </a:schemeClr>
        </a:buClr>
        <a:buSzPct val="85000"/>
        <a:buFont typeface="Wingdings" pitchFamily="2" charset="2"/>
        <a:buChar char="§"/>
        <a:defRPr sz="1920" kern="1200">
          <a:solidFill>
            <a:schemeClr val="tx1"/>
          </a:solidFill>
          <a:latin typeface="+mn-lt"/>
          <a:ea typeface="+mn-ea"/>
          <a:cs typeface="+mn-cs"/>
        </a:defRPr>
      </a:lvl6pPr>
      <a:lvl7pPr marL="2280000" indent="-274320" algn="l" defTabSz="1097280" rtl="0" eaLnBrk="1" latinLnBrk="0" hangingPunct="1">
        <a:lnSpc>
          <a:spcPct val="90000"/>
        </a:lnSpc>
        <a:spcBef>
          <a:spcPts val="480"/>
        </a:spcBef>
        <a:spcAft>
          <a:spcPts val="240"/>
        </a:spcAft>
        <a:buClr>
          <a:schemeClr val="accent1">
            <a:lumMod val="75000"/>
          </a:schemeClr>
        </a:buClr>
        <a:buSzPct val="85000"/>
        <a:buFont typeface="Wingdings" pitchFamily="2" charset="2"/>
        <a:buChar char="§"/>
        <a:defRPr sz="1920" kern="1200">
          <a:solidFill>
            <a:schemeClr val="tx1"/>
          </a:solidFill>
          <a:latin typeface="+mn-lt"/>
          <a:ea typeface="+mn-ea"/>
          <a:cs typeface="+mn-cs"/>
        </a:defRPr>
      </a:lvl7pPr>
      <a:lvl8pPr marL="2640000" indent="-274320" algn="l" defTabSz="1097280" rtl="0" eaLnBrk="1" latinLnBrk="0" hangingPunct="1">
        <a:lnSpc>
          <a:spcPct val="90000"/>
        </a:lnSpc>
        <a:spcBef>
          <a:spcPts val="480"/>
        </a:spcBef>
        <a:spcAft>
          <a:spcPts val="240"/>
        </a:spcAft>
        <a:buClr>
          <a:schemeClr val="accent1">
            <a:lumMod val="75000"/>
          </a:schemeClr>
        </a:buClr>
        <a:buSzPct val="85000"/>
        <a:buFont typeface="Wingdings" pitchFamily="2" charset="2"/>
        <a:buChar char="§"/>
        <a:defRPr sz="1920" kern="1200">
          <a:solidFill>
            <a:schemeClr val="tx1"/>
          </a:solidFill>
          <a:latin typeface="+mn-lt"/>
          <a:ea typeface="+mn-ea"/>
          <a:cs typeface="+mn-cs"/>
        </a:defRPr>
      </a:lvl8pPr>
      <a:lvl9pPr marL="3000000" indent="-274320" algn="l" defTabSz="1097280" rtl="0" eaLnBrk="1" latinLnBrk="0" hangingPunct="1">
        <a:lnSpc>
          <a:spcPct val="90000"/>
        </a:lnSpc>
        <a:spcBef>
          <a:spcPts val="480"/>
        </a:spcBef>
        <a:spcAft>
          <a:spcPts val="240"/>
        </a:spcAft>
        <a:buClr>
          <a:schemeClr val="accent1">
            <a:lumMod val="75000"/>
          </a:schemeClr>
        </a:buClr>
        <a:buSzPct val="85000"/>
        <a:buFont typeface="Wingdings" pitchFamily="2" charset="2"/>
        <a:buChar char="§"/>
        <a:defRPr sz="1920" kern="1200">
          <a:solidFill>
            <a:schemeClr val="tx1"/>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6.jpeg"/></Relationships>
</file>

<file path=ppt/slides/_rels/slide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7.png"/><Relationship Id="rId1" Type="http://schemas.openxmlformats.org/officeDocument/2006/relationships/slideLayout" Target="../slideLayouts/slideLayout12.xml"/><Relationship Id="rId4" Type="http://schemas.openxmlformats.org/officeDocument/2006/relationships/image" Target="../media/image8.jpeg"/></Relationships>
</file>

<file path=ppt/slides/_rels/slide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xml"/><Relationship Id="rId1" Type="http://schemas.openxmlformats.org/officeDocument/2006/relationships/slideLayout" Target="../slideLayouts/slideLayout13.xml"/><Relationship Id="rId4" Type="http://schemas.openxmlformats.org/officeDocument/2006/relationships/image" Target="../media/image6.jpeg"/></Relationships>
</file>

<file path=ppt/slides/_rels/slide4.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image" Target="../media/image10.png"/><Relationship Id="rId7" Type="http://schemas.openxmlformats.org/officeDocument/2006/relationships/image" Target="../media/image14.jpeg"/><Relationship Id="rId2" Type="http://schemas.openxmlformats.org/officeDocument/2006/relationships/notesSlide" Target="../notesSlides/notesSlide3.xml"/><Relationship Id="rId1" Type="http://schemas.openxmlformats.org/officeDocument/2006/relationships/slideLayout" Target="../slideLayouts/slideLayout14.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4.xml"/><Relationship Id="rId1" Type="http://schemas.openxmlformats.org/officeDocument/2006/relationships/slideLayout" Target="../slideLayouts/slideLayout15.xml"/><Relationship Id="rId4" Type="http://schemas.openxmlformats.org/officeDocument/2006/relationships/image" Target="../media/image6.jpeg"/></Relationships>
</file>

<file path=ppt/slides/_rels/slide6.xml.rels><?xml version="1.0" encoding="UTF-8" standalone="yes"?>
<Relationships xmlns="http://schemas.openxmlformats.org/package/2006/relationships"><Relationship Id="rId8" Type="http://schemas.openxmlformats.org/officeDocument/2006/relationships/image" Target="../media/image21.jpeg"/><Relationship Id="rId3" Type="http://schemas.openxmlformats.org/officeDocument/2006/relationships/image" Target="../media/image16.png"/><Relationship Id="rId7" Type="http://schemas.openxmlformats.org/officeDocument/2006/relationships/image" Target="../media/image20.jpeg"/><Relationship Id="rId2" Type="http://schemas.openxmlformats.org/officeDocument/2006/relationships/notesSlide" Target="../notesSlides/notesSlide5.xml"/><Relationship Id="rId1" Type="http://schemas.openxmlformats.org/officeDocument/2006/relationships/slideLayout" Target="../slideLayouts/slideLayout16.xml"/><Relationship Id="rId6" Type="http://schemas.openxmlformats.org/officeDocument/2006/relationships/image" Target="../media/image19.jpeg"/><Relationship Id="rId11" Type="http://schemas.openxmlformats.org/officeDocument/2006/relationships/image" Target="../media/image6.jpeg"/><Relationship Id="rId5" Type="http://schemas.openxmlformats.org/officeDocument/2006/relationships/image" Target="../media/image18.jpeg"/><Relationship Id="rId10" Type="http://schemas.openxmlformats.org/officeDocument/2006/relationships/image" Target="../media/image23.jpeg"/><Relationship Id="rId4" Type="http://schemas.openxmlformats.org/officeDocument/2006/relationships/image" Target="../media/image17.jpeg"/><Relationship Id="rId9" Type="http://schemas.openxmlformats.org/officeDocument/2006/relationships/image" Target="../media/image22.jpeg"/></Relationships>
</file>

<file path=ppt/slides/_rels/slide7.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6.xml"/><Relationship Id="rId1" Type="http://schemas.openxmlformats.org/officeDocument/2006/relationships/slideLayout" Target="../slideLayouts/slideLayout17.xml"/><Relationship Id="rId5" Type="http://schemas.openxmlformats.org/officeDocument/2006/relationships/image" Target="../media/image6.jpeg"/><Relationship Id="rId4" Type="http://schemas.openxmlformats.org/officeDocument/2006/relationships/image" Target="../media/image25.jpeg"/></Relationships>
</file>

<file path=ppt/slides/_rels/slide8.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7.xml"/><Relationship Id="rId1" Type="http://schemas.openxmlformats.org/officeDocument/2006/relationships/slideLayout" Target="../slideLayouts/slideLayout18.xml"/><Relationship Id="rId4" Type="http://schemas.openxmlformats.org/officeDocument/2006/relationships/image" Target="../media/image6.jpeg"/></Relationships>
</file>

<file path=ppt/slides/_rels/slide9.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image" Target="../media/image6.jpeg"/><Relationship Id="rId2" Type="http://schemas.openxmlformats.org/officeDocument/2006/relationships/notesSlide" Target="../notesSlides/notesSlide8.xml"/><Relationship Id="rId1" Type="http://schemas.openxmlformats.org/officeDocument/2006/relationships/slideLayout" Target="../slideLayouts/slideLayout19.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nvSpPr>
        <p:spPr>
          <a:xfrm>
            <a:off x="109778" y="3277205"/>
            <a:ext cx="7556421" cy="317540"/>
          </a:xfrm>
          <a:prstGeom prst="rect">
            <a:avLst/>
          </a:prstGeom>
          <a:noFill/>
          <a:ln/>
        </p:spPr>
        <p:txBody>
          <a:bodyPr wrap="none" lIns="0" tIns="0" rIns="0" bIns="0" rtlCol="0" anchor="t"/>
          <a:lstStyle/>
          <a:p>
            <a:pPr marL="0" indent="0" algn="l">
              <a:lnSpc>
                <a:spcPts val="2500"/>
              </a:lnSpc>
              <a:buNone/>
            </a:pPr>
            <a:endParaRPr lang="fr-FR" sz="1550" noProof="0" dirty="0"/>
          </a:p>
        </p:txBody>
      </p:sp>
      <p:sp>
        <p:nvSpPr>
          <p:cNvPr id="4" name="Text 1"/>
          <p:cNvSpPr/>
          <p:nvPr/>
        </p:nvSpPr>
        <p:spPr>
          <a:xfrm>
            <a:off x="1711493" y="2120947"/>
            <a:ext cx="3631095" cy="620078"/>
          </a:xfrm>
          <a:prstGeom prst="rect">
            <a:avLst/>
          </a:prstGeom>
          <a:solidFill>
            <a:schemeClr val="bg1"/>
          </a:solidFill>
          <a:ln/>
        </p:spPr>
        <p:txBody>
          <a:bodyPr wrap="none" lIns="0" tIns="0" rIns="0" bIns="0" rtlCol="0" anchor="t"/>
          <a:lstStyle/>
          <a:p>
            <a:pPr>
              <a:lnSpc>
                <a:spcPts val="4850"/>
              </a:lnSpc>
            </a:pPr>
            <a:r>
              <a:rPr lang="fr-FR" sz="5400" b="1" noProof="0" dirty="0">
                <a:latin typeface="Baskerville Old Face" panose="02020602080505020303" pitchFamily="18" charset="77"/>
                <a:ea typeface="Fira Mono Medium" pitchFamily="34" charset="-122"/>
                <a:cs typeface="APPLE CHANCERY" panose="03020702040506060504" pitchFamily="66" charset="-79"/>
              </a:rPr>
              <a:t>CYDILY CBC</a:t>
            </a:r>
            <a:endParaRPr lang="fr-FR" sz="5400" b="1" noProof="0" dirty="0">
              <a:latin typeface="Baskerville Old Face" panose="02020602080505020303" pitchFamily="18" charset="77"/>
              <a:cs typeface="APPLE CHANCERY" panose="03020702040506060504" pitchFamily="66" charset="-79"/>
            </a:endParaRPr>
          </a:p>
        </p:txBody>
      </p:sp>
      <p:sp>
        <p:nvSpPr>
          <p:cNvPr id="5" name="Text 2"/>
          <p:cNvSpPr/>
          <p:nvPr/>
        </p:nvSpPr>
        <p:spPr>
          <a:xfrm>
            <a:off x="109778" y="3413133"/>
            <a:ext cx="7556421" cy="317540"/>
          </a:xfrm>
          <a:prstGeom prst="rect">
            <a:avLst/>
          </a:prstGeom>
          <a:noFill/>
          <a:ln/>
        </p:spPr>
        <p:txBody>
          <a:bodyPr wrap="none" lIns="0" tIns="0" rIns="0" bIns="0" rtlCol="0" anchor="t"/>
          <a:lstStyle/>
          <a:p>
            <a:pPr marL="0" indent="0" algn="ctr">
              <a:lnSpc>
                <a:spcPts val="2500"/>
              </a:lnSpc>
              <a:buNone/>
            </a:pPr>
            <a:endParaRPr lang="fr-FR" sz="2400" noProof="0" dirty="0">
              <a:solidFill>
                <a:srgbClr val="FF40FF"/>
              </a:solidFill>
            </a:endParaRPr>
          </a:p>
        </p:txBody>
      </p:sp>
      <p:pic>
        <p:nvPicPr>
          <p:cNvPr id="21" name="Image 20" descr="Une image contenant habits, personne, chaussures, Propreté&#10;&#10;Le contenu généré par l’IA peut être incorrect.">
            <a:extLst>
              <a:ext uri="{FF2B5EF4-FFF2-40B4-BE49-F238E27FC236}">
                <a16:creationId xmlns:a16="http://schemas.microsoft.com/office/drawing/2014/main" id="{1D1C39A8-1008-53CB-A5B9-1FAF51417AA5}"/>
              </a:ext>
            </a:extLst>
          </p:cNvPr>
          <p:cNvPicPr>
            <a:picLocks noChangeAspect="1"/>
          </p:cNvPicPr>
          <p:nvPr/>
        </p:nvPicPr>
        <p:blipFill>
          <a:blip r:embed="rId3"/>
          <a:stretch>
            <a:fillRect/>
          </a:stretch>
        </p:blipFill>
        <p:spPr>
          <a:xfrm>
            <a:off x="7666199" y="59635"/>
            <a:ext cx="6871436" cy="8110329"/>
          </a:xfrm>
          <a:prstGeom prst="rect">
            <a:avLst/>
          </a:prstGeom>
        </p:spPr>
      </p:pic>
      <p:sp>
        <p:nvSpPr>
          <p:cNvPr id="23" name="Rectangle 1">
            <a:extLst>
              <a:ext uri="{FF2B5EF4-FFF2-40B4-BE49-F238E27FC236}">
                <a16:creationId xmlns:a16="http://schemas.microsoft.com/office/drawing/2014/main" id="{58606ADA-6E7B-DA48-6B4D-8E6F6A9B96F2}"/>
              </a:ext>
            </a:extLst>
          </p:cNvPr>
          <p:cNvSpPr>
            <a:spLocks noChangeArrowheads="1"/>
          </p:cNvSpPr>
          <p:nvPr/>
        </p:nvSpPr>
        <p:spPr bwMode="auto">
          <a:xfrm>
            <a:off x="92765" y="3656300"/>
            <a:ext cx="7556422" cy="21852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fr-FR" sz="4800" b="1" i="0" u="none" strike="noStrike" cap="none" normalizeH="0" baseline="0" noProof="0" dirty="0">
                <a:ln>
                  <a:noFill/>
                </a:ln>
                <a:solidFill>
                  <a:srgbClr val="47038B"/>
                </a:solidFill>
                <a:effectLst/>
                <a:latin typeface="Baskerville Old Face" panose="02020602080505020303" pitchFamily="18" charset="77"/>
              </a:rPr>
              <a:t>CYDILY Formation</a:t>
            </a:r>
            <a:br>
              <a:rPr kumimoji="0" lang="fr-FR" sz="4800" b="0" i="0" u="none" strike="noStrike" cap="none" normalizeH="0" baseline="0" noProof="0" dirty="0">
                <a:ln>
                  <a:noFill/>
                </a:ln>
                <a:solidFill>
                  <a:srgbClr val="47038B"/>
                </a:solidFill>
                <a:effectLst/>
                <a:latin typeface="Baskerville Old Face" panose="02020602080505020303" pitchFamily="18" charset="77"/>
              </a:rPr>
            </a:br>
            <a:r>
              <a:rPr kumimoji="0" lang="fr-FR" sz="4400" b="0" i="1" u="none" strike="noStrike" cap="none" normalizeH="0" baseline="0" noProof="0" dirty="0">
                <a:ln>
                  <a:noFill/>
                </a:ln>
                <a:solidFill>
                  <a:srgbClr val="47038B"/>
                </a:solidFill>
                <a:effectLst/>
                <a:latin typeface="Baskerville Old Face" panose="02020602080505020303" pitchFamily="18" charset="77"/>
              </a:rPr>
              <a:t>Former avec exigence </a:t>
            </a:r>
          </a:p>
          <a:p>
            <a:pPr marL="0" marR="0" lvl="0" indent="0" algn="ctr" defTabSz="914400" rtl="0" eaLnBrk="0" fontAlgn="base" latinLnBrk="0" hangingPunct="0">
              <a:lnSpc>
                <a:spcPct val="100000"/>
              </a:lnSpc>
              <a:spcBef>
                <a:spcPct val="0"/>
              </a:spcBef>
              <a:spcAft>
                <a:spcPct val="0"/>
              </a:spcAft>
              <a:buClrTx/>
              <a:buSzTx/>
              <a:buFontTx/>
              <a:buNone/>
              <a:tabLst/>
            </a:pPr>
            <a:r>
              <a:rPr kumimoji="0" lang="fr-FR" sz="4400" b="0" i="1" u="none" strike="noStrike" cap="none" normalizeH="0" baseline="0" noProof="0" dirty="0">
                <a:ln>
                  <a:noFill/>
                </a:ln>
                <a:solidFill>
                  <a:srgbClr val="47038B"/>
                </a:solidFill>
                <a:effectLst/>
                <a:latin typeface="Baskerville Old Face" panose="02020602080505020303" pitchFamily="18" charset="77"/>
              </a:rPr>
              <a:t>et humanité vers l’excellence</a:t>
            </a:r>
            <a:endParaRPr kumimoji="0" lang="fr-FR" sz="4400" b="0" i="0" u="none" strike="noStrike" cap="none" normalizeH="0" baseline="0" noProof="0" dirty="0">
              <a:ln>
                <a:noFill/>
              </a:ln>
              <a:solidFill>
                <a:srgbClr val="47038B"/>
              </a:solidFill>
              <a:effectLst/>
              <a:latin typeface="Baskerville Old Face" panose="02020602080505020303" pitchFamily="18" charset="77"/>
            </a:endParaRPr>
          </a:p>
        </p:txBody>
      </p:sp>
      <p:pic>
        <p:nvPicPr>
          <p:cNvPr id="26" name="Image 25" descr="Une image contenant texte, Police, graphisme, Graphique&#10;&#10;Le contenu généré par l’IA peut être incorrect.">
            <a:extLst>
              <a:ext uri="{FF2B5EF4-FFF2-40B4-BE49-F238E27FC236}">
                <a16:creationId xmlns:a16="http://schemas.microsoft.com/office/drawing/2014/main" id="{D94A4047-67B0-6014-91E3-9938933E7280}"/>
              </a:ext>
            </a:extLst>
          </p:cNvPr>
          <p:cNvPicPr>
            <a:picLocks noChangeAspect="1"/>
          </p:cNvPicPr>
          <p:nvPr/>
        </p:nvPicPr>
        <p:blipFill>
          <a:blip r:embed="rId4"/>
          <a:stretch>
            <a:fillRect/>
          </a:stretch>
        </p:blipFill>
        <p:spPr>
          <a:xfrm>
            <a:off x="2681281" y="233919"/>
            <a:ext cx="2413416" cy="161893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 6" descr="Une image contenant stylos et plumes, outil d’écriture, fournitures de bureau, Photographie de nature morte&#10;&#10;Le contenu généré par l’IA peut être incorrect.">
            <a:extLst>
              <a:ext uri="{FF2B5EF4-FFF2-40B4-BE49-F238E27FC236}">
                <a16:creationId xmlns:a16="http://schemas.microsoft.com/office/drawing/2014/main" id="{57036F75-66E5-B498-CB1A-B130E65B0390}"/>
              </a:ext>
            </a:extLst>
          </p:cNvPr>
          <p:cNvPicPr>
            <a:picLocks noChangeAspect="1"/>
          </p:cNvPicPr>
          <p:nvPr/>
        </p:nvPicPr>
        <p:blipFill>
          <a:blip r:embed="rId2"/>
          <a:stretch>
            <a:fillRect/>
          </a:stretch>
        </p:blipFill>
        <p:spPr>
          <a:xfrm>
            <a:off x="194873" y="-10151"/>
            <a:ext cx="4585239" cy="4114800"/>
          </a:xfrm>
          <a:prstGeom prst="rect">
            <a:avLst/>
          </a:prstGeom>
          <a:noFill/>
        </p:spPr>
      </p:pic>
      <p:sp>
        <p:nvSpPr>
          <p:cNvPr id="4" name="Rectangle 2">
            <a:extLst>
              <a:ext uri="{FF2B5EF4-FFF2-40B4-BE49-F238E27FC236}">
                <a16:creationId xmlns:a16="http://schemas.microsoft.com/office/drawing/2014/main" id="{B5A3791A-D5F9-04BF-335A-CFDCBE3B1313}"/>
              </a:ext>
            </a:extLst>
          </p:cNvPr>
          <p:cNvSpPr>
            <a:spLocks noChangeArrowheads="1"/>
          </p:cNvSpPr>
          <p:nvPr/>
        </p:nvSpPr>
        <p:spPr bwMode="auto">
          <a:xfrm>
            <a:off x="4922123" y="2637692"/>
            <a:ext cx="9513404" cy="48628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sz="2800" b="1" i="1" u="none" strike="noStrike" cap="none" normalizeH="0" baseline="0" noProof="0" dirty="0">
                <a:ln>
                  <a:noFill/>
                </a:ln>
                <a:effectLst/>
                <a:latin typeface="Sakkal Majalla" panose="020F0502020204030204" pitchFamily="34" charset="0"/>
                <a:cs typeface="Sakkal Majalla" panose="020F0502020204030204" pitchFamily="34" charset="0"/>
              </a:rPr>
              <a:t>                                À propos de moi – Cissé Yatera – </a:t>
            </a:r>
            <a:r>
              <a:rPr kumimoji="0" lang="fr-FR" sz="2800" b="1" i="1" u="none" strike="noStrike" cap="none" normalizeH="0" baseline="0" noProof="0" dirty="0">
                <a:ln>
                  <a:noFill/>
                </a:ln>
                <a:solidFill>
                  <a:srgbClr val="47038B"/>
                </a:solidFill>
                <a:effectLst/>
                <a:latin typeface="Sakkal Majalla" panose="020F0502020204030204" pitchFamily="34" charset="0"/>
                <a:cs typeface="Sakkal Majalla" panose="020F0502020204030204" pitchFamily="34" charset="0"/>
              </a:rPr>
              <a:t>Fondatrice CYDILY CBC </a:t>
            </a:r>
            <a:r>
              <a:rPr kumimoji="0" lang="fr-FR" sz="2800" b="1" i="1" u="none" strike="noStrike" cap="none" normalizeH="0" baseline="0" noProof="0" dirty="0">
                <a:ln>
                  <a:noFill/>
                </a:ln>
                <a:solidFill>
                  <a:schemeClr val="bg1"/>
                </a:solidFill>
                <a:effectLst/>
                <a:latin typeface="Sakkal Majalla" panose="020F0502020204030204" pitchFamily="34" charset="0"/>
                <a:cs typeface="Sakkal Majalla" panose="020F050202020403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i="1" u="none" strike="noStrike" cap="none" normalizeH="0" baseline="0" noProof="0" dirty="0">
              <a:ln>
                <a:noFill/>
              </a:ln>
              <a:effectLst/>
              <a:latin typeface="Californian FB" panose="020F0502020204030204" pitchFamily="34" charset="0"/>
              <a:cs typeface="Californian FB" panose="020F0502020204030204"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fr-FR" sz="2400" i="1" u="none" strike="noStrike" cap="none" normalizeH="0" baseline="0" noProof="0" dirty="0">
                <a:ln>
                  <a:noFill/>
                </a:ln>
                <a:effectLst/>
                <a:latin typeface="Californian FB" panose="020F0502020204030204" pitchFamily="34" charset="0"/>
                <a:cs typeface="Californian FB" panose="020F0502020204030204" pitchFamily="34" charset="0"/>
              </a:rPr>
              <a:t>J’ai consacré plus de vingt ans à l’humain, d’abord dans le travail social auprès de l’enfance maltraitée, puis dans les ressources humaines, en tant que DRH, cheffe de projet, formatrice et auditrice qualité.</a:t>
            </a:r>
          </a:p>
          <a:p>
            <a:pPr marL="0" marR="0" lvl="0" indent="0" algn="ctr" defTabSz="914400" rtl="0" eaLnBrk="0" fontAlgn="base" latinLnBrk="0" hangingPunct="0">
              <a:lnSpc>
                <a:spcPct val="100000"/>
              </a:lnSpc>
              <a:spcBef>
                <a:spcPct val="0"/>
              </a:spcBef>
              <a:spcAft>
                <a:spcPct val="0"/>
              </a:spcAft>
              <a:buClrTx/>
              <a:buSzTx/>
              <a:buFontTx/>
              <a:buNone/>
              <a:tabLst/>
            </a:pPr>
            <a:r>
              <a:rPr kumimoji="0" lang="fr-FR" sz="2400" i="1" u="none" strike="noStrike" cap="none" normalizeH="0" baseline="0" noProof="0" dirty="0">
                <a:ln>
                  <a:noFill/>
                </a:ln>
                <a:effectLst/>
                <a:latin typeface="Californian FB" panose="020F0502020204030204" pitchFamily="34" charset="0"/>
                <a:cs typeface="Californian FB" panose="020F0502020204030204" pitchFamily="34" charset="0"/>
              </a:rPr>
              <a:t>Ces expériences m’ont appris que la vraie transformation commence par la conscience de sa propre valeur.</a:t>
            </a:r>
          </a:p>
          <a:p>
            <a:pPr marL="0" marR="0" lvl="0" indent="0" algn="ctr" defTabSz="914400" rtl="0" eaLnBrk="0" fontAlgn="base" latinLnBrk="0" hangingPunct="0">
              <a:lnSpc>
                <a:spcPct val="100000"/>
              </a:lnSpc>
              <a:spcBef>
                <a:spcPct val="0"/>
              </a:spcBef>
              <a:spcAft>
                <a:spcPct val="0"/>
              </a:spcAft>
              <a:buClrTx/>
              <a:buSzTx/>
              <a:buFontTx/>
              <a:buNone/>
              <a:tabLst/>
            </a:pPr>
            <a:endParaRPr lang="fr-FR" sz="2400" i="1" noProof="0" dirty="0">
              <a:latin typeface="Californian FB" panose="020F0502020204030204" pitchFamily="34" charset="0"/>
              <a:cs typeface="Californian FB" panose="020F0502020204030204"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fr-FR" sz="2400" i="1" u="none" strike="noStrike" cap="none" normalizeH="0" baseline="0" noProof="0" dirty="0">
                <a:ln>
                  <a:noFill/>
                </a:ln>
                <a:effectLst/>
                <a:latin typeface="Californian FB" panose="020F0502020204030204" pitchFamily="34" charset="0"/>
                <a:cs typeface="Californian FB" panose="020F0502020204030204" pitchFamily="34" charset="0"/>
              </a:rPr>
              <a:t>En arrivant à Dakar, j’ai voulu agir là où tout commence : dans la considération de ceux qui œuvrent chaque jour pour le bien commun.</a:t>
            </a:r>
          </a:p>
          <a:p>
            <a:pPr marL="0" marR="0" lvl="0" indent="0" algn="ctr" defTabSz="914400" rtl="0" eaLnBrk="0" fontAlgn="base" latinLnBrk="0" hangingPunct="0">
              <a:lnSpc>
                <a:spcPct val="100000"/>
              </a:lnSpc>
              <a:spcBef>
                <a:spcPct val="0"/>
              </a:spcBef>
              <a:spcAft>
                <a:spcPct val="0"/>
              </a:spcAft>
              <a:buClrTx/>
              <a:buSzTx/>
              <a:buFontTx/>
              <a:buNone/>
              <a:tabLst/>
            </a:pPr>
            <a:endParaRPr lang="fr-FR" sz="2400" i="1" noProof="0" dirty="0">
              <a:latin typeface="Californian FB" panose="020F0502020204030204" pitchFamily="34" charset="0"/>
              <a:cs typeface="Californian FB" panose="020F0502020204030204"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fr-FR" sz="2400" i="1" u="none" strike="noStrike" cap="none" normalizeH="0" baseline="0" noProof="0" dirty="0">
                <a:ln>
                  <a:noFill/>
                </a:ln>
                <a:effectLst/>
                <a:latin typeface="Californian FB" panose="020F0502020204030204" pitchFamily="34" charset="0"/>
                <a:cs typeface="Californian FB" panose="020F0502020204030204" pitchFamily="34" charset="0"/>
              </a:rPr>
              <a:t>C’est ainsi qu’est né  CYDILY, un centre  de formation qui relie savoir-faire, estime de soi, excellence professionnelle et exigence, pour redonner sens, fierté et dignité au travail</a:t>
            </a:r>
            <a:r>
              <a:rPr kumimoji="0" lang="fr-FR" i="1" u="none" strike="noStrike" cap="none" normalizeH="0" baseline="0" noProof="0" dirty="0">
                <a:ln>
                  <a:noFill/>
                </a:ln>
                <a:effectLst/>
                <a:latin typeface="Californian FB" panose="020F0502020204030204" pitchFamily="34" charset="0"/>
                <a:cs typeface="Californian FB" panose="020F0502020204030204" pitchFamily="34" charset="0"/>
              </a:rPr>
              <a:t>.</a:t>
            </a:r>
          </a:p>
        </p:txBody>
      </p:sp>
      <p:pic>
        <p:nvPicPr>
          <p:cNvPr id="9" name="Image 8" descr="Une image contenant texte, Police, graphisme, Graphique&#10;&#10;Le contenu généré par l’IA peut être incorrect.">
            <a:extLst>
              <a:ext uri="{FF2B5EF4-FFF2-40B4-BE49-F238E27FC236}">
                <a16:creationId xmlns:a16="http://schemas.microsoft.com/office/drawing/2014/main" id="{685237E5-DAD0-FB8D-A56F-451B1EB8055D}"/>
              </a:ext>
            </a:extLst>
          </p:cNvPr>
          <p:cNvPicPr>
            <a:picLocks noChangeAspect="1"/>
          </p:cNvPicPr>
          <p:nvPr/>
        </p:nvPicPr>
        <p:blipFill>
          <a:blip r:embed="rId3"/>
          <a:srcRect l="6544" t="11918" r="7411" b="9496"/>
          <a:stretch>
            <a:fillRect/>
          </a:stretch>
        </p:blipFill>
        <p:spPr>
          <a:xfrm>
            <a:off x="7736306" y="69902"/>
            <a:ext cx="3043989" cy="2372509"/>
          </a:xfrm>
          <a:prstGeom prst="rect">
            <a:avLst/>
          </a:prstGeom>
        </p:spPr>
      </p:pic>
      <p:pic>
        <p:nvPicPr>
          <p:cNvPr id="2" name="Image 1" descr="Une image contenant personne, Visage humain, sourire, habits&#10;&#10;Le contenu généré par l’IA peut être incorrect.">
            <a:extLst>
              <a:ext uri="{FF2B5EF4-FFF2-40B4-BE49-F238E27FC236}">
                <a16:creationId xmlns:a16="http://schemas.microsoft.com/office/drawing/2014/main" id="{15A2362A-6E5A-3235-A237-383E28919AFB}"/>
              </a:ext>
            </a:extLst>
          </p:cNvPr>
          <p:cNvPicPr>
            <a:picLocks noChangeAspect="1"/>
          </p:cNvPicPr>
          <p:nvPr/>
        </p:nvPicPr>
        <p:blipFill>
          <a:blip r:embed="rId4"/>
          <a:srcRect t="11645"/>
          <a:stretch>
            <a:fillRect/>
          </a:stretch>
        </p:blipFill>
        <p:spPr>
          <a:xfrm>
            <a:off x="938819" y="4247147"/>
            <a:ext cx="3097348" cy="3648903"/>
          </a:xfrm>
          <a:prstGeom prst="rect">
            <a:avLst/>
          </a:prstGeom>
        </p:spPr>
      </p:pic>
    </p:spTree>
    <p:extLst>
      <p:ext uri="{BB962C8B-B14F-4D97-AF65-F5344CB8AC3E}">
        <p14:creationId xmlns:p14="http://schemas.microsoft.com/office/powerpoint/2010/main" val="30133661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p:nvPr/>
        </p:nvSpPr>
        <p:spPr>
          <a:xfrm>
            <a:off x="2509123" y="509503"/>
            <a:ext cx="4806077" cy="600789"/>
          </a:xfrm>
          <a:prstGeom prst="rect">
            <a:avLst/>
          </a:prstGeom>
          <a:noFill/>
          <a:ln/>
        </p:spPr>
        <p:txBody>
          <a:bodyPr wrap="none" lIns="0" tIns="0" rIns="0" bIns="0" rtlCol="0" anchor="t"/>
          <a:lstStyle/>
          <a:p>
            <a:pPr marL="0" indent="0" algn="l">
              <a:lnSpc>
                <a:spcPts val="4700"/>
              </a:lnSpc>
              <a:buNone/>
            </a:pPr>
            <a:r>
              <a:rPr lang="fr-FR" sz="3750" b="1" noProof="0" dirty="0">
                <a:solidFill>
                  <a:srgbClr val="47038B"/>
                </a:solidFill>
                <a:latin typeface="Baskerville Old Face" panose="02020602080505020303" pitchFamily="18" charset="77"/>
                <a:ea typeface="Fira Mono Medium" pitchFamily="34" charset="-122"/>
                <a:cs typeface="Fira Mono Medium" pitchFamily="34" charset="-120"/>
              </a:rPr>
              <a:t>CYDILY Formation</a:t>
            </a:r>
            <a:endParaRPr lang="fr-FR" sz="3750" b="1" noProof="0" dirty="0">
              <a:solidFill>
                <a:srgbClr val="47038B"/>
              </a:solidFill>
              <a:latin typeface="Baskerville Old Face" panose="02020602080505020303" pitchFamily="18" charset="77"/>
            </a:endParaRPr>
          </a:p>
        </p:txBody>
      </p:sp>
      <p:sp>
        <p:nvSpPr>
          <p:cNvPr id="4" name="Text 1"/>
          <p:cNvSpPr/>
          <p:nvPr/>
        </p:nvSpPr>
        <p:spPr>
          <a:xfrm>
            <a:off x="768906" y="1310108"/>
            <a:ext cx="7606189" cy="3316129"/>
          </a:xfrm>
          <a:prstGeom prst="rect">
            <a:avLst/>
          </a:prstGeom>
          <a:noFill/>
          <a:ln/>
        </p:spPr>
        <p:txBody>
          <a:bodyPr wrap="square" lIns="0" tIns="0" rIns="0" bIns="0" rtlCol="0" anchor="t"/>
          <a:lstStyle/>
          <a:p>
            <a:pPr marL="0" indent="0" algn="ctr">
              <a:lnSpc>
                <a:spcPts val="6500"/>
              </a:lnSpc>
              <a:buNone/>
            </a:pPr>
            <a:r>
              <a:rPr lang="fr-FR" sz="5200" b="1" noProof="0" dirty="0">
                <a:solidFill>
                  <a:srgbClr val="3371A5"/>
                </a:solidFill>
                <a:latin typeface="Baskerville Old Face" panose="02020602080505020303" pitchFamily="18" charset="77"/>
                <a:ea typeface="Fira Mono Medium" pitchFamily="34" charset="-122"/>
                <a:cs typeface="Fira Mono Medium" pitchFamily="34" charset="-120"/>
              </a:rPr>
              <a:t>Élever les standards de l'hygiène et des métiers de service</a:t>
            </a:r>
            <a:endParaRPr lang="fr-FR" sz="5200" b="1" noProof="0" dirty="0">
              <a:latin typeface="Baskerville Old Face" panose="02020602080505020303" pitchFamily="18" charset="77"/>
            </a:endParaRPr>
          </a:p>
        </p:txBody>
      </p:sp>
      <p:sp>
        <p:nvSpPr>
          <p:cNvPr id="5" name="Text 2"/>
          <p:cNvSpPr/>
          <p:nvPr/>
        </p:nvSpPr>
        <p:spPr>
          <a:xfrm>
            <a:off x="623132" y="3938731"/>
            <a:ext cx="7751963" cy="2209405"/>
          </a:xfrm>
          <a:prstGeom prst="rect">
            <a:avLst/>
          </a:prstGeom>
          <a:noFill/>
          <a:ln/>
        </p:spPr>
        <p:txBody>
          <a:bodyPr wrap="square" lIns="0" tIns="0" rIns="0" bIns="0" rtlCol="0" anchor="t"/>
          <a:lstStyle/>
          <a:p>
            <a:pPr>
              <a:lnSpc>
                <a:spcPts val="2400"/>
              </a:lnSpc>
            </a:pPr>
            <a:r>
              <a:rPr lang="fr-FR" sz="1600" noProof="0" dirty="0">
                <a:latin typeface="Fira Sans" pitchFamily="34" charset="0"/>
                <a:ea typeface="Fira Sans" pitchFamily="34" charset="-122"/>
                <a:cs typeface="Fira Sans" pitchFamily="34" charset="-120"/>
              </a:rPr>
              <a:t>Centre de formation, d'audit et d'accompagnement dédié à la professionnalisation des métiers domestiques de l'hygiène/sécurité alimentaire et dans les secteurs de la santé, de l’agroalimentaire, l’hôtellerie (house </a:t>
            </a:r>
            <a:r>
              <a:rPr lang="fr-FR" sz="1600" noProof="0" dirty="0" err="1">
                <a:latin typeface="Fira Sans" pitchFamily="34" charset="0"/>
                <a:ea typeface="Fira Sans" pitchFamily="34" charset="-122"/>
                <a:cs typeface="Fira Sans" pitchFamily="34" charset="-120"/>
              </a:rPr>
              <a:t>keeper</a:t>
            </a:r>
            <a:r>
              <a:rPr lang="fr-FR" sz="1600" noProof="0" dirty="0">
                <a:latin typeface="Fira Sans" pitchFamily="34" charset="0"/>
                <a:ea typeface="Fira Sans" pitchFamily="34" charset="-122"/>
                <a:cs typeface="Fira Sans" pitchFamily="34" charset="-120"/>
              </a:rPr>
              <a:t>), la restauration, les résidences privées et locatives, les entreprises/bureaux…. </a:t>
            </a:r>
          </a:p>
          <a:p>
            <a:pPr marL="0" indent="0" algn="l">
              <a:lnSpc>
                <a:spcPts val="2400"/>
              </a:lnSpc>
              <a:buNone/>
            </a:pPr>
            <a:endParaRPr lang="fr-FR" sz="1600" noProof="0" dirty="0">
              <a:latin typeface="Fira Sans" pitchFamily="34" charset="0"/>
              <a:ea typeface="Fira Sans" pitchFamily="34" charset="-122"/>
              <a:cs typeface="Fira Sans" pitchFamily="34" charset="-120"/>
            </a:endParaRPr>
          </a:p>
          <a:p>
            <a:pPr marL="0" indent="0" algn="l">
              <a:lnSpc>
                <a:spcPts val="2400"/>
              </a:lnSpc>
              <a:buNone/>
            </a:pPr>
            <a:r>
              <a:rPr lang="fr-FR" sz="1600" noProof="0" dirty="0">
                <a:latin typeface="Fira Sans" pitchFamily="34" charset="0"/>
                <a:ea typeface="Fira Sans" pitchFamily="34" charset="-122"/>
                <a:cs typeface="Fira Sans" pitchFamily="34" charset="-120"/>
              </a:rPr>
              <a:t>Notre approche combine rigueur technique, bienveillance humaine et adaptation profonde aux </a:t>
            </a:r>
            <a:r>
              <a:rPr lang="fr-FR" noProof="0" dirty="0">
                <a:latin typeface="Fira Sans" pitchFamily="34" charset="0"/>
                <a:ea typeface="Fira Sans" pitchFamily="34" charset="-122"/>
                <a:cs typeface="Fira Sans" pitchFamily="34" charset="-120"/>
              </a:rPr>
              <a:t>réalités</a:t>
            </a:r>
            <a:r>
              <a:rPr lang="fr-FR" sz="1600" noProof="0" dirty="0">
                <a:latin typeface="Fira Sans" pitchFamily="34" charset="0"/>
                <a:ea typeface="Fira Sans" pitchFamily="34" charset="-122"/>
                <a:cs typeface="Fira Sans" pitchFamily="34" charset="-120"/>
              </a:rPr>
              <a:t> culturelles et économiques du Sénégal.</a:t>
            </a:r>
            <a:endParaRPr lang="fr-FR" sz="1600" noProof="0" dirty="0"/>
          </a:p>
        </p:txBody>
      </p:sp>
      <p:sp>
        <p:nvSpPr>
          <p:cNvPr id="6" name="Text 3"/>
          <p:cNvSpPr/>
          <p:nvPr/>
        </p:nvSpPr>
        <p:spPr>
          <a:xfrm>
            <a:off x="623132" y="6454705"/>
            <a:ext cx="7606189" cy="1230630"/>
          </a:xfrm>
          <a:prstGeom prst="rect">
            <a:avLst/>
          </a:prstGeom>
          <a:noFill/>
          <a:ln/>
        </p:spPr>
        <p:txBody>
          <a:bodyPr wrap="square" lIns="0" tIns="0" rIns="0" bIns="0" rtlCol="0" anchor="t"/>
          <a:lstStyle/>
          <a:p>
            <a:pPr marL="0" indent="0" algn="l">
              <a:lnSpc>
                <a:spcPts val="2400"/>
              </a:lnSpc>
              <a:buNone/>
            </a:pPr>
            <a:r>
              <a:rPr lang="fr-FR" sz="1600" noProof="0" dirty="0">
                <a:latin typeface="Fira Sans" pitchFamily="34" charset="0"/>
                <a:ea typeface="Fira Sans" pitchFamily="34" charset="-122"/>
                <a:cs typeface="Fira Sans" pitchFamily="34" charset="-120"/>
              </a:rPr>
              <a:t>Nous croyons fermement que chaque métier de service mérite reconnaissance et excellence. Notre mission est de transformer des vocations en compétences reconnues, en offrant des formations qui allient théorie moderne et pratique terrain, toujours dans le respect de la dignité humaine.</a:t>
            </a:r>
            <a:endParaRPr lang="fr-FR" sz="1600" noProof="0" dirty="0"/>
          </a:p>
        </p:txBody>
      </p:sp>
      <p:pic>
        <p:nvPicPr>
          <p:cNvPr id="9" name="Image 8" descr="Une image contenant habits, personne, intérieur, Propreté&#10;&#10;Le contenu généré par l’IA peut être incorrect.">
            <a:extLst>
              <a:ext uri="{FF2B5EF4-FFF2-40B4-BE49-F238E27FC236}">
                <a16:creationId xmlns:a16="http://schemas.microsoft.com/office/drawing/2014/main" id="{331A64CB-99A5-29DA-3A07-0F37A43E2F2D}"/>
              </a:ext>
            </a:extLst>
          </p:cNvPr>
          <p:cNvPicPr>
            <a:picLocks noChangeAspect="1"/>
          </p:cNvPicPr>
          <p:nvPr/>
        </p:nvPicPr>
        <p:blipFill>
          <a:blip r:embed="rId3"/>
          <a:stretch>
            <a:fillRect/>
          </a:stretch>
        </p:blipFill>
        <p:spPr>
          <a:xfrm>
            <a:off x="8675757" y="119270"/>
            <a:ext cx="5848626" cy="8017565"/>
          </a:xfrm>
          <a:prstGeom prst="rect">
            <a:avLst/>
          </a:prstGeom>
        </p:spPr>
      </p:pic>
      <p:pic>
        <p:nvPicPr>
          <p:cNvPr id="12" name="Image 11" descr="Une image contenant texte, Police, graphisme, Graphique&#10;&#10;Le contenu généré par l’IA peut être incorrect.">
            <a:extLst>
              <a:ext uri="{FF2B5EF4-FFF2-40B4-BE49-F238E27FC236}">
                <a16:creationId xmlns:a16="http://schemas.microsoft.com/office/drawing/2014/main" id="{4CBA54E6-7E61-0DF4-9278-1E52BDEF7375}"/>
              </a:ext>
            </a:extLst>
          </p:cNvPr>
          <p:cNvPicPr>
            <a:picLocks noChangeAspect="1"/>
          </p:cNvPicPr>
          <p:nvPr/>
        </p:nvPicPr>
        <p:blipFill>
          <a:blip r:embed="rId4"/>
          <a:stretch>
            <a:fillRect/>
          </a:stretch>
        </p:blipFill>
        <p:spPr>
          <a:xfrm>
            <a:off x="0" y="0"/>
            <a:ext cx="1612704" cy="1185453"/>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1574982" y="1013535"/>
            <a:ext cx="10716591" cy="597575"/>
          </a:xfrm>
          <a:prstGeom prst="rect">
            <a:avLst/>
          </a:prstGeom>
          <a:noFill/>
          <a:ln/>
        </p:spPr>
        <p:txBody>
          <a:bodyPr wrap="none" lIns="0" tIns="0" rIns="0" bIns="0" rtlCol="0" anchor="t"/>
          <a:lstStyle/>
          <a:p>
            <a:pPr marL="0" indent="0" algn="l">
              <a:lnSpc>
                <a:spcPts val="3050"/>
              </a:lnSpc>
              <a:buNone/>
            </a:pPr>
            <a:r>
              <a:rPr lang="fr-FR" sz="3600" b="1" noProof="0" dirty="0">
                <a:latin typeface="Baskerville Old Face" panose="02020602080505020303" pitchFamily="18" charset="77"/>
                <a:ea typeface="Fira Mono Medium" pitchFamily="34" charset="-122"/>
                <a:cs typeface="Fira Mono Medium" pitchFamily="34" charset="-120"/>
              </a:rPr>
              <a:t>NOTRE RAISON D’ÊTRE : FORMER AUTREMENT !</a:t>
            </a:r>
            <a:endParaRPr lang="fr-FR" sz="3600" b="1" noProof="0" dirty="0">
              <a:latin typeface="Baskerville Old Face" panose="02020602080505020303" pitchFamily="18" charset="77"/>
            </a:endParaRPr>
          </a:p>
        </p:txBody>
      </p:sp>
      <p:sp>
        <p:nvSpPr>
          <p:cNvPr id="6" name="Shape 3"/>
          <p:cNvSpPr/>
          <p:nvPr/>
        </p:nvSpPr>
        <p:spPr>
          <a:xfrm>
            <a:off x="32022" y="2514570"/>
            <a:ext cx="6716974" cy="1138658"/>
          </a:xfrm>
          <a:prstGeom prst="roundRect">
            <a:avLst>
              <a:gd name="adj" fmla="val 1537"/>
            </a:avLst>
          </a:prstGeom>
          <a:solidFill>
            <a:srgbClr val="2E2E2F"/>
          </a:solidFill>
          <a:ln/>
        </p:spPr>
        <p:txBody>
          <a:bodyPr/>
          <a:lstStyle/>
          <a:p>
            <a:endParaRPr lang="fr-FR" noProof="0" dirty="0"/>
          </a:p>
        </p:txBody>
      </p:sp>
      <p:sp>
        <p:nvSpPr>
          <p:cNvPr id="7" name="Shape 4"/>
          <p:cNvSpPr/>
          <p:nvPr/>
        </p:nvSpPr>
        <p:spPr>
          <a:xfrm>
            <a:off x="296423" y="2813060"/>
            <a:ext cx="431016" cy="380326"/>
          </a:xfrm>
          <a:prstGeom prst="roundRect">
            <a:avLst>
              <a:gd name="adj" fmla="val 24471748"/>
            </a:avLst>
          </a:prstGeom>
          <a:solidFill>
            <a:srgbClr val="FF6BD8"/>
          </a:solidFill>
          <a:ln/>
        </p:spPr>
        <p:txBody>
          <a:bodyPr/>
          <a:lstStyle/>
          <a:p>
            <a:endParaRPr lang="fr-FR" noProof="0" dirty="0"/>
          </a:p>
        </p:txBody>
      </p:sp>
      <p:pic>
        <p:nvPicPr>
          <p:cNvPr id="8" name="Image 1" descr="preencoded.png"/>
          <p:cNvPicPr>
            <a:picLocks noChangeAspect="1"/>
          </p:cNvPicPr>
          <p:nvPr/>
        </p:nvPicPr>
        <p:blipFill>
          <a:blip r:embed="rId3"/>
          <a:stretch>
            <a:fillRect/>
          </a:stretch>
        </p:blipFill>
        <p:spPr>
          <a:xfrm>
            <a:off x="384512" y="2812103"/>
            <a:ext cx="270867" cy="338584"/>
          </a:xfrm>
          <a:prstGeom prst="rect">
            <a:avLst/>
          </a:prstGeom>
        </p:spPr>
      </p:pic>
      <p:sp>
        <p:nvSpPr>
          <p:cNvPr id="11" name="Shape 7"/>
          <p:cNvSpPr/>
          <p:nvPr/>
        </p:nvSpPr>
        <p:spPr>
          <a:xfrm>
            <a:off x="94073" y="5293219"/>
            <a:ext cx="6592873" cy="1215747"/>
          </a:xfrm>
          <a:prstGeom prst="roundRect">
            <a:avLst>
              <a:gd name="adj" fmla="val 1537"/>
            </a:avLst>
          </a:prstGeom>
          <a:solidFill>
            <a:srgbClr val="2E2E2F"/>
          </a:solidFill>
          <a:ln/>
        </p:spPr>
        <p:txBody>
          <a:bodyPr/>
          <a:lstStyle/>
          <a:p>
            <a:endParaRPr lang="fr-FR" noProof="0" dirty="0"/>
          </a:p>
        </p:txBody>
      </p:sp>
      <p:sp>
        <p:nvSpPr>
          <p:cNvPr id="12" name="Shape 8"/>
          <p:cNvSpPr/>
          <p:nvPr/>
        </p:nvSpPr>
        <p:spPr>
          <a:xfrm>
            <a:off x="333137" y="5463892"/>
            <a:ext cx="373618" cy="373618"/>
          </a:xfrm>
          <a:prstGeom prst="roundRect">
            <a:avLst>
              <a:gd name="adj" fmla="val 24471748"/>
            </a:avLst>
          </a:prstGeom>
          <a:solidFill>
            <a:srgbClr val="FF6BD8"/>
          </a:solidFill>
          <a:ln/>
        </p:spPr>
        <p:txBody>
          <a:bodyPr/>
          <a:lstStyle/>
          <a:p>
            <a:endParaRPr lang="fr-FR" noProof="0" dirty="0"/>
          </a:p>
        </p:txBody>
      </p:sp>
      <p:pic>
        <p:nvPicPr>
          <p:cNvPr id="13" name="Image 2" descr="preencoded.png"/>
          <p:cNvPicPr>
            <a:picLocks noChangeAspect="1"/>
          </p:cNvPicPr>
          <p:nvPr/>
        </p:nvPicPr>
        <p:blipFill>
          <a:blip r:embed="rId4"/>
          <a:stretch>
            <a:fillRect/>
          </a:stretch>
        </p:blipFill>
        <p:spPr>
          <a:xfrm>
            <a:off x="456928" y="5545628"/>
            <a:ext cx="168116" cy="210145"/>
          </a:xfrm>
          <a:prstGeom prst="rect">
            <a:avLst/>
          </a:prstGeom>
        </p:spPr>
      </p:pic>
      <p:sp>
        <p:nvSpPr>
          <p:cNvPr id="14" name="Text 9"/>
          <p:cNvSpPr/>
          <p:nvPr/>
        </p:nvSpPr>
        <p:spPr>
          <a:xfrm>
            <a:off x="1408118" y="5547840"/>
            <a:ext cx="2188174" cy="333148"/>
          </a:xfrm>
          <a:prstGeom prst="rect">
            <a:avLst/>
          </a:prstGeom>
          <a:noFill/>
          <a:ln/>
        </p:spPr>
        <p:txBody>
          <a:bodyPr wrap="none" lIns="0" tIns="0" rIns="0" bIns="0" rtlCol="0" anchor="t"/>
          <a:lstStyle/>
          <a:p>
            <a:pPr marL="0" indent="0" algn="l">
              <a:lnSpc>
                <a:spcPts val="1500"/>
              </a:lnSpc>
              <a:buNone/>
            </a:pPr>
            <a:r>
              <a:rPr lang="fr-FR" sz="3600" noProof="0" dirty="0">
                <a:solidFill>
                  <a:srgbClr val="E0D6DE"/>
                </a:solidFill>
                <a:latin typeface="Baskerville Old Face" panose="02020602080505020303" pitchFamily="18" charset="77"/>
                <a:ea typeface="Fira Mono Medium" pitchFamily="34" charset="-122"/>
                <a:cs typeface="Fira Mono Medium" pitchFamily="34" charset="-120"/>
              </a:rPr>
              <a:t>Humanité &amp; bienveillance</a:t>
            </a:r>
            <a:endParaRPr lang="fr-FR" sz="3600" noProof="0" dirty="0">
              <a:latin typeface="Baskerville Old Face" panose="02020602080505020303" pitchFamily="18" charset="77"/>
            </a:endParaRPr>
          </a:p>
        </p:txBody>
      </p:sp>
      <p:sp>
        <p:nvSpPr>
          <p:cNvPr id="15" name="Text 10"/>
          <p:cNvSpPr/>
          <p:nvPr/>
        </p:nvSpPr>
        <p:spPr>
          <a:xfrm>
            <a:off x="1209901" y="5975161"/>
            <a:ext cx="5058552" cy="199192"/>
          </a:xfrm>
          <a:prstGeom prst="rect">
            <a:avLst/>
          </a:prstGeom>
          <a:noFill/>
          <a:ln/>
        </p:spPr>
        <p:txBody>
          <a:bodyPr wrap="none" lIns="0" tIns="0" rIns="0" bIns="0" rtlCol="0" anchor="t"/>
          <a:lstStyle/>
          <a:p>
            <a:pPr marL="0" indent="0" algn="l">
              <a:lnSpc>
                <a:spcPts val="1550"/>
              </a:lnSpc>
              <a:buNone/>
            </a:pPr>
            <a:r>
              <a:rPr lang="fr-FR" sz="2400" noProof="0" dirty="0">
                <a:solidFill>
                  <a:srgbClr val="E0D6DE"/>
                </a:solidFill>
                <a:latin typeface="Baskerville Old Face" panose="02020602080505020303" pitchFamily="18" charset="77"/>
                <a:ea typeface="Fira Sans" pitchFamily="34" charset="-122"/>
                <a:cs typeface="Fira Sans" pitchFamily="34" charset="-120"/>
              </a:rPr>
              <a:t>Accompagnement adapté et  respectueux</a:t>
            </a:r>
            <a:endParaRPr lang="fr-FR" sz="2400" noProof="0" dirty="0">
              <a:latin typeface="Baskerville Old Face" panose="02020602080505020303" pitchFamily="18" charset="77"/>
            </a:endParaRPr>
          </a:p>
        </p:txBody>
      </p:sp>
      <p:sp>
        <p:nvSpPr>
          <p:cNvPr id="16" name="Shape 11"/>
          <p:cNvSpPr/>
          <p:nvPr/>
        </p:nvSpPr>
        <p:spPr>
          <a:xfrm>
            <a:off x="90877" y="3900661"/>
            <a:ext cx="6626097" cy="1215747"/>
          </a:xfrm>
          <a:prstGeom prst="roundRect">
            <a:avLst>
              <a:gd name="adj" fmla="val 1537"/>
            </a:avLst>
          </a:prstGeom>
          <a:solidFill>
            <a:srgbClr val="2E2E2F"/>
          </a:solidFill>
          <a:ln/>
        </p:spPr>
        <p:txBody>
          <a:bodyPr/>
          <a:lstStyle/>
          <a:p>
            <a:endParaRPr lang="fr-FR" noProof="0" dirty="0"/>
          </a:p>
        </p:txBody>
      </p:sp>
      <p:sp>
        <p:nvSpPr>
          <p:cNvPr id="17" name="Shape 12"/>
          <p:cNvSpPr/>
          <p:nvPr/>
        </p:nvSpPr>
        <p:spPr>
          <a:xfrm flipH="1">
            <a:off x="262590" y="4101073"/>
            <a:ext cx="378315" cy="409952"/>
          </a:xfrm>
          <a:prstGeom prst="roundRect">
            <a:avLst>
              <a:gd name="adj" fmla="val 24471748"/>
            </a:avLst>
          </a:prstGeom>
          <a:solidFill>
            <a:srgbClr val="FF6BD8"/>
          </a:solidFill>
          <a:ln/>
        </p:spPr>
        <p:txBody>
          <a:bodyPr/>
          <a:lstStyle/>
          <a:p>
            <a:endParaRPr lang="fr-FR" noProof="0" dirty="0"/>
          </a:p>
        </p:txBody>
      </p:sp>
      <p:pic>
        <p:nvPicPr>
          <p:cNvPr id="18" name="Image 3" descr="preencoded.png"/>
          <p:cNvPicPr>
            <a:picLocks noChangeAspect="1"/>
          </p:cNvPicPr>
          <p:nvPr/>
        </p:nvPicPr>
        <p:blipFill>
          <a:blip r:embed="rId5"/>
          <a:stretch>
            <a:fillRect/>
          </a:stretch>
        </p:blipFill>
        <p:spPr>
          <a:xfrm flipH="1">
            <a:off x="299010" y="4132253"/>
            <a:ext cx="246126" cy="307658"/>
          </a:xfrm>
          <a:prstGeom prst="rect">
            <a:avLst/>
          </a:prstGeom>
        </p:spPr>
      </p:pic>
      <p:sp>
        <p:nvSpPr>
          <p:cNvPr id="19" name="Text 13"/>
          <p:cNvSpPr/>
          <p:nvPr/>
        </p:nvSpPr>
        <p:spPr>
          <a:xfrm>
            <a:off x="1953297" y="4269753"/>
            <a:ext cx="1587341" cy="194667"/>
          </a:xfrm>
          <a:prstGeom prst="rect">
            <a:avLst/>
          </a:prstGeom>
          <a:noFill/>
          <a:ln/>
        </p:spPr>
        <p:txBody>
          <a:bodyPr wrap="none" lIns="0" tIns="0" rIns="0" bIns="0" rtlCol="0" anchor="t"/>
          <a:lstStyle/>
          <a:p>
            <a:pPr marL="0" indent="0" algn="l">
              <a:lnSpc>
                <a:spcPts val="1500"/>
              </a:lnSpc>
              <a:buNone/>
            </a:pPr>
            <a:r>
              <a:rPr lang="fr-FR" sz="3600" noProof="0" dirty="0">
                <a:solidFill>
                  <a:srgbClr val="E0D6DE"/>
                </a:solidFill>
                <a:latin typeface="Baskerville Old Face" panose="02020602080505020303" pitchFamily="18" charset="77"/>
                <a:ea typeface="Fira Mono Medium" pitchFamily="34" charset="-122"/>
                <a:cs typeface="Fira Mono Medium" pitchFamily="34" charset="-120"/>
              </a:rPr>
              <a:t>Hygiène &amp; rigueur</a:t>
            </a:r>
            <a:endParaRPr lang="fr-FR" sz="3600" noProof="0" dirty="0">
              <a:latin typeface="Baskerville Old Face" panose="02020602080505020303" pitchFamily="18" charset="77"/>
            </a:endParaRPr>
          </a:p>
        </p:txBody>
      </p:sp>
      <p:sp>
        <p:nvSpPr>
          <p:cNvPr id="20" name="Text 14"/>
          <p:cNvSpPr/>
          <p:nvPr/>
        </p:nvSpPr>
        <p:spPr>
          <a:xfrm>
            <a:off x="1318157" y="4667512"/>
            <a:ext cx="4408875" cy="194667"/>
          </a:xfrm>
          <a:prstGeom prst="rect">
            <a:avLst/>
          </a:prstGeom>
          <a:noFill/>
          <a:ln/>
        </p:spPr>
        <p:txBody>
          <a:bodyPr wrap="none" lIns="0" tIns="0" rIns="0" bIns="0" rtlCol="0" anchor="t"/>
          <a:lstStyle/>
          <a:p>
            <a:pPr marL="0" indent="0" algn="l">
              <a:lnSpc>
                <a:spcPts val="1550"/>
              </a:lnSpc>
              <a:buNone/>
            </a:pPr>
            <a:r>
              <a:rPr lang="fr-FR" sz="2400" noProof="0" dirty="0">
                <a:solidFill>
                  <a:srgbClr val="E0D6DE"/>
                </a:solidFill>
                <a:latin typeface="Baskerville Old Face" panose="02020602080505020303" pitchFamily="18" charset="77"/>
                <a:ea typeface="Fira Sans" pitchFamily="34" charset="-122"/>
                <a:cs typeface="Fira Sans" pitchFamily="34" charset="-120"/>
              </a:rPr>
              <a:t>Protocoles professionnels rigoureux</a:t>
            </a:r>
            <a:endParaRPr lang="fr-FR" sz="2400" noProof="0" dirty="0">
              <a:latin typeface="Baskerville Old Face" panose="02020602080505020303" pitchFamily="18" charset="77"/>
            </a:endParaRPr>
          </a:p>
        </p:txBody>
      </p:sp>
      <p:sp>
        <p:nvSpPr>
          <p:cNvPr id="21" name="Shape 15"/>
          <p:cNvSpPr/>
          <p:nvPr/>
        </p:nvSpPr>
        <p:spPr>
          <a:xfrm>
            <a:off x="283244" y="6711469"/>
            <a:ext cx="6626097" cy="1215747"/>
          </a:xfrm>
          <a:prstGeom prst="roundRect">
            <a:avLst>
              <a:gd name="adj" fmla="val 1537"/>
            </a:avLst>
          </a:prstGeom>
          <a:solidFill>
            <a:srgbClr val="2E2E2F"/>
          </a:solidFill>
          <a:ln/>
        </p:spPr>
        <p:txBody>
          <a:bodyPr/>
          <a:lstStyle/>
          <a:p>
            <a:endParaRPr lang="fr-FR" noProof="0" dirty="0"/>
          </a:p>
        </p:txBody>
      </p:sp>
      <p:sp>
        <p:nvSpPr>
          <p:cNvPr id="22" name="Shape 16"/>
          <p:cNvSpPr/>
          <p:nvPr/>
        </p:nvSpPr>
        <p:spPr>
          <a:xfrm>
            <a:off x="283244" y="6981967"/>
            <a:ext cx="373618" cy="373618"/>
          </a:xfrm>
          <a:prstGeom prst="roundRect">
            <a:avLst>
              <a:gd name="adj" fmla="val 24471748"/>
            </a:avLst>
          </a:prstGeom>
          <a:solidFill>
            <a:srgbClr val="FF6BD8"/>
          </a:solidFill>
          <a:ln/>
        </p:spPr>
        <p:txBody>
          <a:bodyPr/>
          <a:lstStyle/>
          <a:p>
            <a:endParaRPr lang="fr-FR" noProof="0" dirty="0"/>
          </a:p>
        </p:txBody>
      </p:sp>
      <p:pic>
        <p:nvPicPr>
          <p:cNvPr id="23" name="Image 4" descr="preencoded.png"/>
          <p:cNvPicPr>
            <a:picLocks noChangeAspect="1"/>
          </p:cNvPicPr>
          <p:nvPr/>
        </p:nvPicPr>
        <p:blipFill>
          <a:blip r:embed="rId6"/>
          <a:stretch>
            <a:fillRect/>
          </a:stretch>
        </p:blipFill>
        <p:spPr>
          <a:xfrm>
            <a:off x="415576" y="7063704"/>
            <a:ext cx="168116" cy="210145"/>
          </a:xfrm>
          <a:prstGeom prst="rect">
            <a:avLst/>
          </a:prstGeom>
        </p:spPr>
      </p:pic>
      <p:sp>
        <p:nvSpPr>
          <p:cNvPr id="24" name="Text 17"/>
          <p:cNvSpPr/>
          <p:nvPr/>
        </p:nvSpPr>
        <p:spPr>
          <a:xfrm>
            <a:off x="1209901" y="6989445"/>
            <a:ext cx="2521029" cy="260393"/>
          </a:xfrm>
          <a:prstGeom prst="rect">
            <a:avLst/>
          </a:prstGeom>
          <a:noFill/>
          <a:ln/>
        </p:spPr>
        <p:txBody>
          <a:bodyPr wrap="none" lIns="0" tIns="0" rIns="0" bIns="0" rtlCol="0" anchor="t"/>
          <a:lstStyle/>
          <a:p>
            <a:pPr marL="0" indent="0" algn="l">
              <a:lnSpc>
                <a:spcPts val="1500"/>
              </a:lnSpc>
              <a:buNone/>
            </a:pPr>
            <a:r>
              <a:rPr lang="fr-FR" sz="3600" noProof="0" dirty="0">
                <a:solidFill>
                  <a:srgbClr val="E0D6DE"/>
                </a:solidFill>
                <a:latin typeface="Baskerville Old Face" panose="02020602080505020303" pitchFamily="18" charset="77"/>
                <a:ea typeface="Fira Mono Medium" pitchFamily="34" charset="-122"/>
                <a:cs typeface="Fira Mono Medium" pitchFamily="34" charset="-120"/>
              </a:rPr>
              <a:t>Responsabilité &amp; engagement</a:t>
            </a:r>
            <a:endParaRPr lang="fr-FR" sz="3600" noProof="0" dirty="0">
              <a:latin typeface="Baskerville Old Face" panose="02020602080505020303" pitchFamily="18" charset="77"/>
            </a:endParaRPr>
          </a:p>
        </p:txBody>
      </p:sp>
      <p:sp>
        <p:nvSpPr>
          <p:cNvPr id="25" name="Text 18"/>
          <p:cNvSpPr/>
          <p:nvPr/>
        </p:nvSpPr>
        <p:spPr>
          <a:xfrm>
            <a:off x="1953297" y="7389335"/>
            <a:ext cx="3641387" cy="199192"/>
          </a:xfrm>
          <a:prstGeom prst="rect">
            <a:avLst/>
          </a:prstGeom>
          <a:noFill/>
          <a:ln/>
        </p:spPr>
        <p:txBody>
          <a:bodyPr wrap="none" lIns="0" tIns="0" rIns="0" bIns="0" rtlCol="0" anchor="t"/>
          <a:lstStyle/>
          <a:p>
            <a:pPr marL="0" indent="0" algn="l">
              <a:lnSpc>
                <a:spcPts val="1550"/>
              </a:lnSpc>
              <a:buNone/>
            </a:pPr>
            <a:r>
              <a:rPr lang="fr-FR" sz="2400" noProof="0" dirty="0">
                <a:solidFill>
                  <a:srgbClr val="E0D6DE"/>
                </a:solidFill>
                <a:latin typeface="Baskerville Old Face" panose="02020602080505020303" pitchFamily="18" charset="77"/>
                <a:ea typeface="Fira Sans" pitchFamily="34" charset="-122"/>
                <a:cs typeface="Fira Sans" pitchFamily="34" charset="-120"/>
              </a:rPr>
              <a:t>Impact durable sur la société</a:t>
            </a:r>
            <a:endParaRPr lang="fr-FR" sz="2400" noProof="0" dirty="0">
              <a:latin typeface="Baskerville Old Face" panose="02020602080505020303" pitchFamily="18" charset="77"/>
            </a:endParaRPr>
          </a:p>
        </p:txBody>
      </p:sp>
      <p:sp>
        <p:nvSpPr>
          <p:cNvPr id="26" name="Text 5">
            <a:extLst>
              <a:ext uri="{FF2B5EF4-FFF2-40B4-BE49-F238E27FC236}">
                <a16:creationId xmlns:a16="http://schemas.microsoft.com/office/drawing/2014/main" id="{2D18E203-1CCD-418B-BCAF-EA11E4D1D387}"/>
              </a:ext>
            </a:extLst>
          </p:cNvPr>
          <p:cNvSpPr/>
          <p:nvPr/>
        </p:nvSpPr>
        <p:spPr>
          <a:xfrm>
            <a:off x="1574982" y="2808556"/>
            <a:ext cx="2054185" cy="194667"/>
          </a:xfrm>
          <a:prstGeom prst="rect">
            <a:avLst/>
          </a:prstGeom>
          <a:noFill/>
          <a:ln/>
        </p:spPr>
        <p:txBody>
          <a:bodyPr wrap="none" lIns="0" tIns="0" rIns="0" bIns="0" rtlCol="0" anchor="t"/>
          <a:lstStyle/>
          <a:p>
            <a:pPr marL="0" indent="0" algn="l">
              <a:lnSpc>
                <a:spcPts val="1500"/>
              </a:lnSpc>
              <a:buNone/>
            </a:pPr>
            <a:r>
              <a:rPr lang="fr-FR" sz="3600" noProof="0" dirty="0">
                <a:solidFill>
                  <a:srgbClr val="E0D6DE"/>
                </a:solidFill>
                <a:latin typeface="Baskerville Old Face" panose="02020602080505020303" pitchFamily="18" charset="77"/>
                <a:ea typeface="Fira Mono Medium" pitchFamily="34" charset="-122"/>
                <a:cs typeface="Fira Mono Medium" pitchFamily="34" charset="-120"/>
              </a:rPr>
              <a:t>Excellence &amp; intégrité</a:t>
            </a:r>
            <a:endParaRPr lang="fr-FR" sz="3600" noProof="0" dirty="0">
              <a:latin typeface="Baskerville Old Face" panose="02020602080505020303" pitchFamily="18" charset="77"/>
            </a:endParaRPr>
          </a:p>
        </p:txBody>
      </p:sp>
      <p:sp>
        <p:nvSpPr>
          <p:cNvPr id="29" name="Text 6">
            <a:extLst>
              <a:ext uri="{FF2B5EF4-FFF2-40B4-BE49-F238E27FC236}">
                <a16:creationId xmlns:a16="http://schemas.microsoft.com/office/drawing/2014/main" id="{103251D1-CDC6-6F96-FA4D-CDA207FF8FD5}"/>
              </a:ext>
            </a:extLst>
          </p:cNvPr>
          <p:cNvSpPr/>
          <p:nvPr/>
        </p:nvSpPr>
        <p:spPr>
          <a:xfrm>
            <a:off x="1150381" y="3135665"/>
            <a:ext cx="4889472" cy="236650"/>
          </a:xfrm>
          <a:prstGeom prst="rect">
            <a:avLst/>
          </a:prstGeom>
          <a:noFill/>
          <a:ln/>
        </p:spPr>
        <p:txBody>
          <a:bodyPr wrap="none" lIns="0" tIns="0" rIns="0" bIns="0" rtlCol="0" anchor="t"/>
          <a:lstStyle/>
          <a:p>
            <a:pPr marL="0" indent="0" algn="l">
              <a:lnSpc>
                <a:spcPts val="1550"/>
              </a:lnSpc>
              <a:buNone/>
            </a:pPr>
            <a:r>
              <a:rPr lang="fr-FR" sz="2400" noProof="0" dirty="0">
                <a:solidFill>
                  <a:srgbClr val="E0D6DE"/>
                </a:solidFill>
                <a:latin typeface="Baskerville Old Face" panose="02020602080505020303" pitchFamily="18" charset="77"/>
                <a:ea typeface="Fira Sans" pitchFamily="34" charset="-122"/>
                <a:cs typeface="Fira Sans" pitchFamily="34" charset="-120"/>
              </a:rPr>
              <a:t>Standards élevés dans chaque formation</a:t>
            </a:r>
            <a:endParaRPr lang="fr-FR" sz="2400" noProof="0" dirty="0">
              <a:latin typeface="Baskerville Old Face" panose="02020602080505020303" pitchFamily="18" charset="77"/>
            </a:endParaRPr>
          </a:p>
        </p:txBody>
      </p:sp>
      <p:pic>
        <p:nvPicPr>
          <p:cNvPr id="32" name="Image 31" descr="Une image contenant habits, personne, Visage humain, mur&#10;&#10;Le contenu généré par l’IA peut être incorrect.">
            <a:extLst>
              <a:ext uri="{FF2B5EF4-FFF2-40B4-BE49-F238E27FC236}">
                <a16:creationId xmlns:a16="http://schemas.microsoft.com/office/drawing/2014/main" id="{4A432EE2-C580-A6EE-C036-EDE6B9D45487}"/>
              </a:ext>
            </a:extLst>
          </p:cNvPr>
          <p:cNvPicPr>
            <a:picLocks noChangeAspect="1"/>
          </p:cNvPicPr>
          <p:nvPr/>
        </p:nvPicPr>
        <p:blipFill>
          <a:blip r:embed="rId7"/>
          <a:stretch>
            <a:fillRect/>
          </a:stretch>
        </p:blipFill>
        <p:spPr>
          <a:xfrm>
            <a:off x="7249664" y="2472598"/>
            <a:ext cx="6739307" cy="5497942"/>
          </a:xfrm>
          <a:prstGeom prst="rect">
            <a:avLst/>
          </a:prstGeom>
        </p:spPr>
      </p:pic>
      <p:pic>
        <p:nvPicPr>
          <p:cNvPr id="36" name="Image 35" descr="Une image contenant texte, Police, graphisme, Graphique&#10;&#10;Le contenu généré par l’IA peut être incorrect.">
            <a:extLst>
              <a:ext uri="{FF2B5EF4-FFF2-40B4-BE49-F238E27FC236}">
                <a16:creationId xmlns:a16="http://schemas.microsoft.com/office/drawing/2014/main" id="{BA293543-5DDA-DB1B-2BCF-EA76811CC051}"/>
              </a:ext>
            </a:extLst>
          </p:cNvPr>
          <p:cNvPicPr>
            <a:picLocks noChangeAspect="1"/>
          </p:cNvPicPr>
          <p:nvPr/>
        </p:nvPicPr>
        <p:blipFill>
          <a:blip r:embed="rId8"/>
          <a:stretch>
            <a:fillRect/>
          </a:stretch>
        </p:blipFill>
        <p:spPr>
          <a:xfrm>
            <a:off x="12861758" y="2479862"/>
            <a:ext cx="1129821" cy="107688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2268702" y="91440"/>
            <a:ext cx="9525833" cy="1007714"/>
          </a:xfrm>
          <a:prstGeom prst="rect">
            <a:avLst/>
          </a:prstGeom>
          <a:noFill/>
          <a:ln/>
        </p:spPr>
        <p:txBody>
          <a:bodyPr wrap="none" lIns="0" tIns="0" rIns="0" bIns="0" rtlCol="0" anchor="t"/>
          <a:lstStyle/>
          <a:p>
            <a:pPr marL="0" indent="0" algn="ctr">
              <a:lnSpc>
                <a:spcPts val="4850"/>
              </a:lnSpc>
              <a:buNone/>
            </a:pPr>
            <a:r>
              <a:rPr lang="fr-FR" sz="3600" b="1" noProof="0" dirty="0">
                <a:latin typeface="Baskerville Old Face" panose="02020602080505020303" pitchFamily="18" charset="77"/>
                <a:ea typeface="Fira Mono Medium" pitchFamily="34" charset="-122"/>
                <a:cs typeface="Fira Mono Medium" pitchFamily="34" charset="-120"/>
              </a:rPr>
              <a:t>CYDILY </a:t>
            </a:r>
          </a:p>
          <a:p>
            <a:pPr marL="0" indent="0" algn="ctr">
              <a:lnSpc>
                <a:spcPts val="4850"/>
              </a:lnSpc>
              <a:buNone/>
            </a:pPr>
            <a:r>
              <a:rPr lang="fr-FR" sz="3600" b="1" noProof="0" dirty="0">
                <a:latin typeface="Baskerville Old Face" panose="02020602080505020303" pitchFamily="18" charset="77"/>
                <a:ea typeface="Fira Mono Medium" pitchFamily="34" charset="-122"/>
                <a:cs typeface="Fira Mono Medium" pitchFamily="34" charset="-120"/>
              </a:rPr>
              <a:t>un centre de formation inspiré</a:t>
            </a:r>
            <a:endParaRPr lang="fr-FR" sz="3600" b="1" noProof="0" dirty="0">
              <a:latin typeface="Baskerville Old Face" panose="02020602080505020303" pitchFamily="18" charset="77"/>
            </a:endParaRPr>
          </a:p>
        </p:txBody>
      </p:sp>
      <p:sp>
        <p:nvSpPr>
          <p:cNvPr id="3" name="Text 1"/>
          <p:cNvSpPr/>
          <p:nvPr/>
        </p:nvSpPr>
        <p:spPr>
          <a:xfrm>
            <a:off x="9574889" y="1453383"/>
            <a:ext cx="4825009" cy="3219948"/>
          </a:xfrm>
          <a:prstGeom prst="rect">
            <a:avLst/>
          </a:prstGeom>
          <a:noFill/>
          <a:ln/>
        </p:spPr>
        <p:txBody>
          <a:bodyPr wrap="square" lIns="0" tIns="0" rIns="0" bIns="0" rtlCol="0" anchor="t"/>
          <a:lstStyle/>
          <a:p>
            <a:pPr marL="0" indent="0" algn="l">
              <a:lnSpc>
                <a:spcPts val="2500"/>
              </a:lnSpc>
              <a:buNone/>
            </a:pPr>
            <a:r>
              <a:rPr lang="fr-FR" sz="2000" noProof="0" dirty="0">
                <a:latin typeface="Baskerville Old Face" panose="02020602080505020303" pitchFamily="18" charset="77"/>
                <a:ea typeface="Fira Sans" pitchFamily="34" charset="-122"/>
                <a:cs typeface="Fira Sans" pitchFamily="34" charset="-120"/>
              </a:rPr>
              <a:t>Créée pour structurer et valoriser les métiers de service souvent négligés, CYDILY accompagne les jeunes, les particuliers en reconversion , les entreprises, diverses institutions et écoles etc…) dans la montée en compétence stratégique de leurs ressources. Nos formations sont rigoureusement conçues selon les standards QHSE internationaux, tout en restant profondément ancrées dans les besoins réels et les spécificités du continent</a:t>
            </a:r>
            <a:r>
              <a:rPr lang="fr-FR" sz="2000" noProof="0" dirty="0">
                <a:latin typeface="Fira Sans" pitchFamily="34" charset="0"/>
                <a:ea typeface="Fira Sans" pitchFamily="34" charset="-122"/>
                <a:cs typeface="Fira Sans" pitchFamily="34" charset="-120"/>
              </a:rPr>
              <a:t>.</a:t>
            </a:r>
            <a:endParaRPr lang="fr-FR" sz="2000" noProof="0" dirty="0"/>
          </a:p>
        </p:txBody>
      </p:sp>
      <p:sp>
        <p:nvSpPr>
          <p:cNvPr id="4" name="Text 2"/>
          <p:cNvSpPr/>
          <p:nvPr/>
        </p:nvSpPr>
        <p:spPr>
          <a:xfrm>
            <a:off x="230502" y="1737808"/>
            <a:ext cx="4136832" cy="2826926"/>
          </a:xfrm>
          <a:prstGeom prst="rect">
            <a:avLst/>
          </a:prstGeom>
          <a:noFill/>
          <a:ln/>
        </p:spPr>
        <p:txBody>
          <a:bodyPr wrap="square" lIns="0" tIns="0" rIns="0" bIns="0" rtlCol="0" anchor="t"/>
          <a:lstStyle/>
          <a:p>
            <a:pPr marL="0" indent="0">
              <a:lnSpc>
                <a:spcPts val="2500"/>
              </a:lnSpc>
              <a:buNone/>
            </a:pPr>
            <a:r>
              <a:rPr lang="fr-FR" sz="2000" noProof="0" dirty="0">
                <a:latin typeface="Baskerville Old Face" panose="02020602080505020303" pitchFamily="18" charset="77"/>
                <a:ea typeface="Fira Sans" pitchFamily="34" charset="-122"/>
                <a:cs typeface="Fira Sans" pitchFamily="34" charset="-120"/>
              </a:rPr>
              <a:t>Nous comprenons les défis uniques auxquels font face les professionnels en Afrique ; diversité des niveaux d'éducation initiale, contraintes linguistiques, attentes culturelles et exigences techniques croissantes. Notre expertise réside dans notre capacité à transformer ces défis en opportunités de croissance.</a:t>
            </a:r>
            <a:endParaRPr lang="fr-FR" sz="2000" noProof="0" dirty="0">
              <a:latin typeface="Baskerville Old Face" panose="02020602080505020303" pitchFamily="18" charset="77"/>
            </a:endParaRPr>
          </a:p>
        </p:txBody>
      </p:sp>
      <p:sp>
        <p:nvSpPr>
          <p:cNvPr id="5" name="Shape 3"/>
          <p:cNvSpPr/>
          <p:nvPr/>
        </p:nvSpPr>
        <p:spPr>
          <a:xfrm>
            <a:off x="793790" y="4743212"/>
            <a:ext cx="4215289" cy="2740430"/>
          </a:xfrm>
          <a:prstGeom prst="roundRect">
            <a:avLst>
              <a:gd name="adj" fmla="val 4554"/>
            </a:avLst>
          </a:prstGeom>
          <a:solidFill>
            <a:srgbClr val="0F0F10"/>
          </a:solidFill>
          <a:ln/>
        </p:spPr>
        <p:txBody>
          <a:bodyPr/>
          <a:lstStyle/>
          <a:p>
            <a:endParaRPr lang="fr-FR" noProof="0" dirty="0"/>
          </a:p>
        </p:txBody>
      </p:sp>
      <p:sp>
        <p:nvSpPr>
          <p:cNvPr id="6" name="Shape 4"/>
          <p:cNvSpPr/>
          <p:nvPr/>
        </p:nvSpPr>
        <p:spPr>
          <a:xfrm>
            <a:off x="789221" y="4993376"/>
            <a:ext cx="4215289" cy="91440"/>
          </a:xfrm>
          <a:prstGeom prst="roundRect">
            <a:avLst>
              <a:gd name="adj" fmla="val 32558"/>
            </a:avLst>
          </a:prstGeom>
          <a:solidFill>
            <a:srgbClr val="FF6BD8"/>
          </a:solidFill>
          <a:ln/>
        </p:spPr>
        <p:txBody>
          <a:bodyPr/>
          <a:lstStyle/>
          <a:p>
            <a:endParaRPr lang="fr-FR" noProof="0" dirty="0"/>
          </a:p>
        </p:txBody>
      </p:sp>
      <p:sp>
        <p:nvSpPr>
          <p:cNvPr id="7" name="Shape 5"/>
          <p:cNvSpPr/>
          <p:nvPr/>
        </p:nvSpPr>
        <p:spPr>
          <a:xfrm>
            <a:off x="2664829" y="5251846"/>
            <a:ext cx="655887" cy="595313"/>
          </a:xfrm>
          <a:prstGeom prst="roundRect">
            <a:avLst>
              <a:gd name="adj" fmla="val 153600"/>
            </a:avLst>
          </a:prstGeom>
          <a:solidFill>
            <a:srgbClr val="FF6BD8"/>
          </a:solidFill>
          <a:ln/>
        </p:spPr>
        <p:txBody>
          <a:bodyPr/>
          <a:lstStyle/>
          <a:p>
            <a:endParaRPr lang="fr-FR" noProof="0" dirty="0"/>
          </a:p>
        </p:txBody>
      </p:sp>
      <p:sp>
        <p:nvSpPr>
          <p:cNvPr id="8" name="Text 6"/>
          <p:cNvSpPr/>
          <p:nvPr/>
        </p:nvSpPr>
        <p:spPr>
          <a:xfrm>
            <a:off x="2904116" y="5388173"/>
            <a:ext cx="238004" cy="297656"/>
          </a:xfrm>
          <a:prstGeom prst="rect">
            <a:avLst/>
          </a:prstGeom>
          <a:noFill/>
          <a:ln/>
        </p:spPr>
        <p:txBody>
          <a:bodyPr wrap="none" lIns="0" tIns="0" rIns="0" bIns="0" rtlCol="0" anchor="t"/>
          <a:lstStyle/>
          <a:p>
            <a:pPr marL="0" indent="0" algn="l">
              <a:lnSpc>
                <a:spcPts val="3000"/>
              </a:lnSpc>
              <a:buNone/>
            </a:pPr>
            <a:r>
              <a:rPr lang="fr-FR" sz="1850" noProof="0" dirty="0">
                <a:solidFill>
                  <a:srgbClr val="000000"/>
                </a:solidFill>
                <a:latin typeface="Fira Mono Medium" pitchFamily="34" charset="0"/>
                <a:ea typeface="Fira Mono Medium" pitchFamily="34" charset="-122"/>
                <a:cs typeface="Fira Mono Medium" pitchFamily="34" charset="-120"/>
              </a:rPr>
              <a:t>1</a:t>
            </a:r>
            <a:endParaRPr lang="fr-FR" sz="1850" noProof="0" dirty="0"/>
          </a:p>
        </p:txBody>
      </p:sp>
      <p:sp>
        <p:nvSpPr>
          <p:cNvPr id="9" name="Text 7"/>
          <p:cNvSpPr/>
          <p:nvPr/>
        </p:nvSpPr>
        <p:spPr>
          <a:xfrm>
            <a:off x="1011758" y="6025637"/>
            <a:ext cx="3772853" cy="620316"/>
          </a:xfrm>
          <a:prstGeom prst="rect">
            <a:avLst/>
          </a:prstGeom>
          <a:noFill/>
          <a:ln/>
        </p:spPr>
        <p:txBody>
          <a:bodyPr wrap="square" lIns="0" tIns="0" rIns="0" bIns="0" rtlCol="0" anchor="t"/>
          <a:lstStyle/>
          <a:p>
            <a:pPr marL="0" indent="0" algn="l">
              <a:lnSpc>
                <a:spcPts val="2400"/>
              </a:lnSpc>
              <a:buNone/>
            </a:pPr>
            <a:r>
              <a:rPr lang="fr-FR" sz="1950" noProof="0" dirty="0">
                <a:solidFill>
                  <a:srgbClr val="E0D6DE"/>
                </a:solidFill>
                <a:latin typeface="Fira Mono Medium" pitchFamily="34" charset="0"/>
                <a:ea typeface="Fira Mono Medium" pitchFamily="34" charset="-122"/>
                <a:cs typeface="Fira Mono Medium" pitchFamily="34" charset="-120"/>
              </a:rPr>
              <a:t>Formation professionnelle </a:t>
            </a:r>
            <a:endParaRPr lang="fr-FR" sz="1950" noProof="0" dirty="0"/>
          </a:p>
        </p:txBody>
      </p:sp>
      <p:sp>
        <p:nvSpPr>
          <p:cNvPr id="10" name="Text 8"/>
          <p:cNvSpPr/>
          <p:nvPr/>
        </p:nvSpPr>
        <p:spPr>
          <a:xfrm>
            <a:off x="1011759" y="6587518"/>
            <a:ext cx="3772853" cy="636243"/>
          </a:xfrm>
          <a:prstGeom prst="rect">
            <a:avLst/>
          </a:prstGeom>
          <a:noFill/>
          <a:ln/>
        </p:spPr>
        <p:txBody>
          <a:bodyPr wrap="square" lIns="0" tIns="0" rIns="0" bIns="0" rtlCol="0" anchor="t"/>
          <a:lstStyle/>
          <a:p>
            <a:pPr marL="0" indent="0" algn="ctr">
              <a:lnSpc>
                <a:spcPts val="2500"/>
              </a:lnSpc>
              <a:buNone/>
            </a:pPr>
            <a:r>
              <a:rPr lang="fr-FR" sz="1550" noProof="0" dirty="0">
                <a:solidFill>
                  <a:srgbClr val="E0D6DE"/>
                </a:solidFill>
                <a:latin typeface="Fira Sans" pitchFamily="34" charset="0"/>
                <a:ea typeface="Fira Sans" pitchFamily="34" charset="-122"/>
                <a:cs typeface="Fira Sans" pitchFamily="34" charset="-120"/>
              </a:rPr>
              <a:t>Programmes délivrant des attestations de réussite.</a:t>
            </a:r>
            <a:endParaRPr lang="fr-FR" sz="1550" noProof="0" dirty="0"/>
          </a:p>
        </p:txBody>
      </p:sp>
      <p:sp>
        <p:nvSpPr>
          <p:cNvPr id="11" name="Shape 9"/>
          <p:cNvSpPr/>
          <p:nvPr/>
        </p:nvSpPr>
        <p:spPr>
          <a:xfrm>
            <a:off x="5207437" y="4743212"/>
            <a:ext cx="4215408" cy="2740430"/>
          </a:xfrm>
          <a:prstGeom prst="roundRect">
            <a:avLst>
              <a:gd name="adj" fmla="val 4554"/>
            </a:avLst>
          </a:prstGeom>
          <a:solidFill>
            <a:srgbClr val="0F0F10"/>
          </a:solidFill>
          <a:ln/>
        </p:spPr>
        <p:txBody>
          <a:bodyPr/>
          <a:lstStyle/>
          <a:p>
            <a:endParaRPr lang="fr-FR" noProof="0" dirty="0"/>
          </a:p>
        </p:txBody>
      </p:sp>
      <p:sp>
        <p:nvSpPr>
          <p:cNvPr id="12" name="Shape 10"/>
          <p:cNvSpPr/>
          <p:nvPr/>
        </p:nvSpPr>
        <p:spPr>
          <a:xfrm>
            <a:off x="5207437" y="4934988"/>
            <a:ext cx="4215408" cy="91440"/>
          </a:xfrm>
          <a:prstGeom prst="roundRect">
            <a:avLst>
              <a:gd name="adj" fmla="val 32558"/>
            </a:avLst>
          </a:prstGeom>
          <a:solidFill>
            <a:srgbClr val="FF6BD8"/>
          </a:solidFill>
          <a:ln/>
        </p:spPr>
        <p:txBody>
          <a:bodyPr/>
          <a:lstStyle/>
          <a:p>
            <a:endParaRPr lang="fr-FR" noProof="0" dirty="0"/>
          </a:p>
        </p:txBody>
      </p:sp>
      <p:sp>
        <p:nvSpPr>
          <p:cNvPr id="13" name="Shape 11"/>
          <p:cNvSpPr/>
          <p:nvPr/>
        </p:nvSpPr>
        <p:spPr>
          <a:xfrm>
            <a:off x="6977341" y="5095430"/>
            <a:ext cx="595313" cy="595313"/>
          </a:xfrm>
          <a:prstGeom prst="roundRect">
            <a:avLst>
              <a:gd name="adj" fmla="val 153600"/>
            </a:avLst>
          </a:prstGeom>
          <a:solidFill>
            <a:srgbClr val="FF6BD8"/>
          </a:solidFill>
          <a:ln/>
        </p:spPr>
        <p:txBody>
          <a:bodyPr/>
          <a:lstStyle/>
          <a:p>
            <a:endParaRPr lang="fr-FR" noProof="0" dirty="0"/>
          </a:p>
        </p:txBody>
      </p:sp>
      <p:sp>
        <p:nvSpPr>
          <p:cNvPr id="14" name="Text 12"/>
          <p:cNvSpPr/>
          <p:nvPr/>
        </p:nvSpPr>
        <p:spPr>
          <a:xfrm>
            <a:off x="7196017" y="5199511"/>
            <a:ext cx="238125" cy="297656"/>
          </a:xfrm>
          <a:prstGeom prst="rect">
            <a:avLst/>
          </a:prstGeom>
          <a:noFill/>
          <a:ln/>
        </p:spPr>
        <p:txBody>
          <a:bodyPr wrap="none" lIns="0" tIns="0" rIns="0" bIns="0" rtlCol="0" anchor="t"/>
          <a:lstStyle/>
          <a:p>
            <a:pPr marL="0" indent="0" algn="l">
              <a:lnSpc>
                <a:spcPts val="3000"/>
              </a:lnSpc>
              <a:buNone/>
            </a:pPr>
            <a:r>
              <a:rPr lang="fr-FR" sz="1850" noProof="0" dirty="0">
                <a:solidFill>
                  <a:srgbClr val="000000"/>
                </a:solidFill>
                <a:latin typeface="Fira Mono Medium" pitchFamily="34" charset="0"/>
                <a:ea typeface="Fira Mono Medium" pitchFamily="34" charset="-122"/>
                <a:cs typeface="Fira Mono Medium" pitchFamily="34" charset="-120"/>
              </a:rPr>
              <a:t>2</a:t>
            </a:r>
            <a:endParaRPr lang="fr-FR" sz="1850" noProof="0" dirty="0"/>
          </a:p>
        </p:txBody>
      </p:sp>
      <p:sp>
        <p:nvSpPr>
          <p:cNvPr id="15" name="Text 13"/>
          <p:cNvSpPr/>
          <p:nvPr/>
        </p:nvSpPr>
        <p:spPr>
          <a:xfrm>
            <a:off x="5428594" y="5931890"/>
            <a:ext cx="3772972" cy="620316"/>
          </a:xfrm>
          <a:prstGeom prst="rect">
            <a:avLst/>
          </a:prstGeom>
          <a:noFill/>
          <a:ln/>
        </p:spPr>
        <p:txBody>
          <a:bodyPr wrap="square" lIns="0" tIns="0" rIns="0" bIns="0" rtlCol="0" anchor="t"/>
          <a:lstStyle/>
          <a:p>
            <a:pPr marL="0" indent="0" algn="ctr">
              <a:lnSpc>
                <a:spcPts val="2400"/>
              </a:lnSpc>
              <a:buNone/>
            </a:pPr>
            <a:r>
              <a:rPr lang="fr-FR" sz="1950" noProof="0" dirty="0">
                <a:solidFill>
                  <a:srgbClr val="E0D6DE"/>
                </a:solidFill>
                <a:latin typeface="Fira Mono Medium" pitchFamily="34" charset="0"/>
                <a:ea typeface="Fira Mono Medium" pitchFamily="34" charset="-122"/>
                <a:cs typeface="Fira Mono Medium" pitchFamily="34" charset="-120"/>
              </a:rPr>
              <a:t>Audit et accompagnement QHSE</a:t>
            </a:r>
            <a:endParaRPr lang="fr-FR" sz="1950" noProof="0" dirty="0"/>
          </a:p>
        </p:txBody>
      </p:sp>
      <p:sp>
        <p:nvSpPr>
          <p:cNvPr id="16" name="Text 14"/>
          <p:cNvSpPr/>
          <p:nvPr/>
        </p:nvSpPr>
        <p:spPr>
          <a:xfrm>
            <a:off x="5236189" y="6528142"/>
            <a:ext cx="4215289" cy="952619"/>
          </a:xfrm>
          <a:prstGeom prst="rect">
            <a:avLst/>
          </a:prstGeom>
          <a:noFill/>
          <a:ln/>
        </p:spPr>
        <p:txBody>
          <a:bodyPr wrap="square" lIns="0" tIns="0" rIns="0" bIns="0" rtlCol="0" anchor="t"/>
          <a:lstStyle/>
          <a:p>
            <a:pPr marL="0" indent="0" algn="ctr">
              <a:lnSpc>
                <a:spcPts val="2500"/>
              </a:lnSpc>
              <a:buNone/>
            </a:pPr>
            <a:r>
              <a:rPr lang="fr-FR" sz="1550" noProof="0" dirty="0">
                <a:solidFill>
                  <a:srgbClr val="E0D6DE"/>
                </a:solidFill>
                <a:latin typeface="Fira Sans" pitchFamily="34" charset="0"/>
                <a:ea typeface="Fira Sans" pitchFamily="34" charset="-122"/>
                <a:cs typeface="Fira Sans" pitchFamily="34" charset="-120"/>
              </a:rPr>
              <a:t>Diagnostic complet, plans d'action personnalisés et suivi rigoureux pour vos structures</a:t>
            </a:r>
            <a:endParaRPr lang="fr-FR" sz="1550" noProof="0" dirty="0"/>
          </a:p>
        </p:txBody>
      </p:sp>
      <p:sp>
        <p:nvSpPr>
          <p:cNvPr id="17" name="Shape 15"/>
          <p:cNvSpPr/>
          <p:nvPr/>
        </p:nvSpPr>
        <p:spPr>
          <a:xfrm>
            <a:off x="9628341" y="4817611"/>
            <a:ext cx="4215289" cy="2666031"/>
          </a:xfrm>
          <a:prstGeom prst="roundRect">
            <a:avLst>
              <a:gd name="adj" fmla="val 4554"/>
            </a:avLst>
          </a:prstGeom>
          <a:solidFill>
            <a:srgbClr val="0F0F10"/>
          </a:solidFill>
          <a:ln/>
        </p:spPr>
        <p:txBody>
          <a:bodyPr/>
          <a:lstStyle/>
          <a:p>
            <a:endParaRPr lang="fr-FR" noProof="0" dirty="0"/>
          </a:p>
        </p:txBody>
      </p:sp>
      <p:sp>
        <p:nvSpPr>
          <p:cNvPr id="18" name="Shape 16"/>
          <p:cNvSpPr/>
          <p:nvPr/>
        </p:nvSpPr>
        <p:spPr>
          <a:xfrm>
            <a:off x="9621201" y="4995148"/>
            <a:ext cx="4215289" cy="91440"/>
          </a:xfrm>
          <a:prstGeom prst="roundRect">
            <a:avLst>
              <a:gd name="adj" fmla="val 32558"/>
            </a:avLst>
          </a:prstGeom>
          <a:solidFill>
            <a:srgbClr val="FF6BD8"/>
          </a:solidFill>
          <a:ln/>
        </p:spPr>
        <p:txBody>
          <a:bodyPr/>
          <a:lstStyle/>
          <a:p>
            <a:endParaRPr lang="fr-FR" noProof="0" dirty="0"/>
          </a:p>
        </p:txBody>
      </p:sp>
      <p:sp>
        <p:nvSpPr>
          <p:cNvPr id="19" name="Shape 17"/>
          <p:cNvSpPr/>
          <p:nvPr/>
        </p:nvSpPr>
        <p:spPr>
          <a:xfrm>
            <a:off x="11482683" y="5150898"/>
            <a:ext cx="595313" cy="595313"/>
          </a:xfrm>
          <a:prstGeom prst="roundRect">
            <a:avLst>
              <a:gd name="adj" fmla="val 153600"/>
            </a:avLst>
          </a:prstGeom>
          <a:solidFill>
            <a:srgbClr val="FF6BD8"/>
          </a:solidFill>
          <a:ln/>
        </p:spPr>
        <p:txBody>
          <a:bodyPr/>
          <a:lstStyle/>
          <a:p>
            <a:endParaRPr lang="fr-FR" noProof="0" dirty="0"/>
          </a:p>
        </p:txBody>
      </p:sp>
      <p:sp>
        <p:nvSpPr>
          <p:cNvPr id="20" name="Text 18"/>
          <p:cNvSpPr/>
          <p:nvPr/>
        </p:nvSpPr>
        <p:spPr>
          <a:xfrm>
            <a:off x="11711568" y="5241219"/>
            <a:ext cx="238125" cy="297656"/>
          </a:xfrm>
          <a:prstGeom prst="rect">
            <a:avLst/>
          </a:prstGeom>
          <a:noFill/>
          <a:ln/>
        </p:spPr>
        <p:txBody>
          <a:bodyPr wrap="none" lIns="0" tIns="0" rIns="0" bIns="0" rtlCol="0" anchor="t"/>
          <a:lstStyle/>
          <a:p>
            <a:pPr marL="0" indent="0" algn="l">
              <a:lnSpc>
                <a:spcPts val="3000"/>
              </a:lnSpc>
              <a:buNone/>
            </a:pPr>
            <a:r>
              <a:rPr lang="fr-FR" sz="1850" noProof="0" dirty="0">
                <a:solidFill>
                  <a:srgbClr val="000000"/>
                </a:solidFill>
                <a:latin typeface="Fira Mono Medium" pitchFamily="34" charset="0"/>
                <a:ea typeface="Fira Mono Medium" pitchFamily="34" charset="-122"/>
                <a:cs typeface="Fira Mono Medium" pitchFamily="34" charset="-120"/>
              </a:rPr>
              <a:t>3</a:t>
            </a:r>
            <a:endParaRPr lang="fr-FR" sz="1850" noProof="0" dirty="0"/>
          </a:p>
        </p:txBody>
      </p:sp>
      <p:sp>
        <p:nvSpPr>
          <p:cNvPr id="21" name="Text 19"/>
          <p:cNvSpPr/>
          <p:nvPr/>
        </p:nvSpPr>
        <p:spPr>
          <a:xfrm>
            <a:off x="9893914" y="5848564"/>
            <a:ext cx="3772853" cy="620316"/>
          </a:xfrm>
          <a:prstGeom prst="rect">
            <a:avLst/>
          </a:prstGeom>
          <a:noFill/>
          <a:ln/>
        </p:spPr>
        <p:txBody>
          <a:bodyPr wrap="square" lIns="0" tIns="0" rIns="0" bIns="0" rtlCol="0" anchor="t"/>
          <a:lstStyle/>
          <a:p>
            <a:pPr marL="0" indent="0" algn="ctr">
              <a:lnSpc>
                <a:spcPts val="2400"/>
              </a:lnSpc>
              <a:buNone/>
            </a:pPr>
            <a:r>
              <a:rPr lang="fr-FR" sz="1950" noProof="0" dirty="0">
                <a:solidFill>
                  <a:srgbClr val="E0D6DE"/>
                </a:solidFill>
                <a:latin typeface="Fira Mono Medium" pitchFamily="34" charset="0"/>
                <a:ea typeface="Fira Mono Medium" pitchFamily="34" charset="-122"/>
                <a:cs typeface="Fira Mono Medium" pitchFamily="34" charset="-120"/>
              </a:rPr>
              <a:t>Conseil en amélioration continue</a:t>
            </a:r>
            <a:endParaRPr lang="fr-FR" sz="1950" noProof="0" dirty="0"/>
          </a:p>
        </p:txBody>
      </p:sp>
      <p:sp>
        <p:nvSpPr>
          <p:cNvPr id="22" name="Text 20"/>
          <p:cNvSpPr/>
          <p:nvPr/>
        </p:nvSpPr>
        <p:spPr>
          <a:xfrm>
            <a:off x="9849558" y="6442291"/>
            <a:ext cx="3772853" cy="952619"/>
          </a:xfrm>
          <a:prstGeom prst="rect">
            <a:avLst/>
          </a:prstGeom>
          <a:noFill/>
          <a:ln/>
        </p:spPr>
        <p:txBody>
          <a:bodyPr wrap="square" lIns="0" tIns="0" rIns="0" bIns="0" rtlCol="0" anchor="t"/>
          <a:lstStyle/>
          <a:p>
            <a:pPr marL="0" indent="0" algn="ctr">
              <a:lnSpc>
                <a:spcPts val="2500"/>
              </a:lnSpc>
              <a:buNone/>
            </a:pPr>
            <a:r>
              <a:rPr lang="fr-FR" sz="1550" noProof="0" dirty="0">
                <a:solidFill>
                  <a:srgbClr val="E0D6DE"/>
                </a:solidFill>
                <a:latin typeface="Fira Sans" pitchFamily="34" charset="0"/>
                <a:ea typeface="Fira Sans" pitchFamily="34" charset="-122"/>
                <a:cs typeface="Fira Sans" pitchFamily="34" charset="-120"/>
              </a:rPr>
              <a:t>Stratégies sur mesure pour optimiser vos processus et pérenniser l'excellence opérationnelle</a:t>
            </a:r>
            <a:endParaRPr lang="fr-FR" sz="1550" noProof="0" dirty="0"/>
          </a:p>
        </p:txBody>
      </p:sp>
      <p:pic>
        <p:nvPicPr>
          <p:cNvPr id="37" name="Image 36" descr="Une image contenant texte, arbre, ciel, plein air&#10;&#10;Le contenu généré par l’IA peut être incorrect.">
            <a:extLst>
              <a:ext uri="{FF2B5EF4-FFF2-40B4-BE49-F238E27FC236}">
                <a16:creationId xmlns:a16="http://schemas.microsoft.com/office/drawing/2014/main" id="{CA4AFC08-49A3-CF8D-4C63-808392DF65A9}"/>
              </a:ext>
            </a:extLst>
          </p:cNvPr>
          <p:cNvPicPr>
            <a:picLocks noChangeAspect="1"/>
          </p:cNvPicPr>
          <p:nvPr/>
        </p:nvPicPr>
        <p:blipFill>
          <a:blip r:embed="rId3"/>
          <a:stretch>
            <a:fillRect/>
          </a:stretch>
        </p:blipFill>
        <p:spPr>
          <a:xfrm>
            <a:off x="4367334" y="1438533"/>
            <a:ext cx="5055511" cy="3219948"/>
          </a:xfrm>
          <a:prstGeom prst="rect">
            <a:avLst/>
          </a:prstGeom>
        </p:spPr>
      </p:pic>
      <p:pic>
        <p:nvPicPr>
          <p:cNvPr id="39" name="Image 38" descr="Une image contenant texte, Police, graphisme, Graphique&#10;&#10;Le contenu généré par l’IA peut être incorrect.">
            <a:extLst>
              <a:ext uri="{FF2B5EF4-FFF2-40B4-BE49-F238E27FC236}">
                <a16:creationId xmlns:a16="http://schemas.microsoft.com/office/drawing/2014/main" id="{79B5B97C-18F1-03EF-DFFF-52C03E8F6679}"/>
              </a:ext>
            </a:extLst>
          </p:cNvPr>
          <p:cNvPicPr>
            <a:picLocks noChangeAspect="1"/>
          </p:cNvPicPr>
          <p:nvPr/>
        </p:nvPicPr>
        <p:blipFill>
          <a:blip r:embed="rId4"/>
          <a:stretch>
            <a:fillRect/>
          </a:stretch>
        </p:blipFill>
        <p:spPr>
          <a:xfrm>
            <a:off x="0" y="0"/>
            <a:ext cx="1214203" cy="115731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3546157" y="642104"/>
            <a:ext cx="8037433" cy="620078"/>
          </a:xfrm>
          <a:prstGeom prst="rect">
            <a:avLst/>
          </a:prstGeom>
          <a:noFill/>
          <a:ln/>
        </p:spPr>
        <p:txBody>
          <a:bodyPr wrap="none" lIns="0" tIns="0" rIns="0" bIns="0" rtlCol="0" anchor="t"/>
          <a:lstStyle/>
          <a:p>
            <a:pPr marL="0" indent="0" algn="l">
              <a:lnSpc>
                <a:spcPts val="4850"/>
              </a:lnSpc>
              <a:buNone/>
            </a:pPr>
            <a:r>
              <a:rPr lang="fr-FR" sz="3900" b="1" noProof="0" dirty="0">
                <a:solidFill>
                  <a:schemeClr val="accent1"/>
                </a:solidFill>
                <a:latin typeface="Fira Mono Medium" pitchFamily="34" charset="0"/>
                <a:ea typeface="Fira Mono Medium" pitchFamily="34" charset="-122"/>
                <a:cs typeface="Fira Mono Medium" pitchFamily="34" charset="-120"/>
              </a:rPr>
              <a:t>Nos domaines d'intervention</a:t>
            </a:r>
            <a:endParaRPr lang="fr-FR" sz="3900" b="1" noProof="0" dirty="0">
              <a:solidFill>
                <a:schemeClr val="accent1"/>
              </a:solidFill>
            </a:endParaRPr>
          </a:p>
        </p:txBody>
      </p:sp>
      <p:sp>
        <p:nvSpPr>
          <p:cNvPr id="3" name="Text 1"/>
          <p:cNvSpPr/>
          <p:nvPr/>
        </p:nvSpPr>
        <p:spPr>
          <a:xfrm>
            <a:off x="3892687" y="1441904"/>
            <a:ext cx="7291388" cy="310158"/>
          </a:xfrm>
          <a:prstGeom prst="rect">
            <a:avLst/>
          </a:prstGeom>
          <a:noFill/>
          <a:ln/>
        </p:spPr>
        <p:txBody>
          <a:bodyPr wrap="none" lIns="0" tIns="0" rIns="0" bIns="0" rtlCol="0" anchor="t"/>
          <a:lstStyle/>
          <a:p>
            <a:pPr marL="0" indent="0" algn="l">
              <a:lnSpc>
                <a:spcPts val="2400"/>
              </a:lnSpc>
              <a:buNone/>
            </a:pPr>
            <a:r>
              <a:rPr lang="fr-FR" sz="1950" b="1" noProof="0" dirty="0">
                <a:latin typeface="Fira Mono Medium" pitchFamily="34" charset="0"/>
                <a:ea typeface="Fira Mono Medium" pitchFamily="34" charset="-122"/>
                <a:cs typeface="Fira Mono Medium" pitchFamily="34" charset="-120"/>
              </a:rPr>
              <a:t>Un champ d'action large, au service de la qualité</a:t>
            </a:r>
            <a:endParaRPr lang="fr-FR" sz="1950" b="1" noProof="0" dirty="0"/>
          </a:p>
        </p:txBody>
      </p:sp>
      <p:sp>
        <p:nvSpPr>
          <p:cNvPr id="4" name="Text 2"/>
          <p:cNvSpPr/>
          <p:nvPr/>
        </p:nvSpPr>
        <p:spPr>
          <a:xfrm>
            <a:off x="853380" y="1924537"/>
            <a:ext cx="4499011" cy="620316"/>
          </a:xfrm>
          <a:prstGeom prst="rect">
            <a:avLst/>
          </a:prstGeom>
          <a:noFill/>
          <a:ln/>
        </p:spPr>
        <p:txBody>
          <a:bodyPr wrap="square" lIns="0" tIns="0" rIns="0" bIns="0" rtlCol="0" anchor="t"/>
          <a:lstStyle/>
          <a:p>
            <a:pPr marL="0" indent="0" algn="ctr">
              <a:lnSpc>
                <a:spcPts val="2400"/>
              </a:lnSpc>
              <a:buNone/>
            </a:pPr>
            <a:r>
              <a:rPr lang="fr-FR" sz="1950" b="1" noProof="0" dirty="0">
                <a:solidFill>
                  <a:srgbClr val="47038B"/>
                </a:solidFill>
                <a:latin typeface="Fira Mono Medium" pitchFamily="34" charset="0"/>
                <a:ea typeface="Fira Mono Medium" pitchFamily="34" charset="-122"/>
                <a:cs typeface="Fira Mono Medium" pitchFamily="34" charset="-120"/>
              </a:rPr>
              <a:t>Hygiène hospitalière, industrielle, alimentaire industrielle</a:t>
            </a:r>
            <a:endParaRPr lang="fr-FR" sz="1950" b="1" noProof="0" dirty="0">
              <a:solidFill>
                <a:srgbClr val="47038B"/>
              </a:solidFill>
            </a:endParaRPr>
          </a:p>
        </p:txBody>
      </p:sp>
      <p:sp>
        <p:nvSpPr>
          <p:cNvPr id="5" name="Text 3"/>
          <p:cNvSpPr/>
          <p:nvPr/>
        </p:nvSpPr>
        <p:spPr>
          <a:xfrm>
            <a:off x="674519" y="4208021"/>
            <a:ext cx="4182189" cy="952619"/>
          </a:xfrm>
          <a:prstGeom prst="rect">
            <a:avLst/>
          </a:prstGeom>
          <a:noFill/>
          <a:ln/>
        </p:spPr>
        <p:txBody>
          <a:bodyPr wrap="square" lIns="0" tIns="0" rIns="0" bIns="0" rtlCol="0" anchor="t"/>
          <a:lstStyle/>
          <a:p>
            <a:pPr marL="0" indent="0" algn="ctr">
              <a:lnSpc>
                <a:spcPts val="2500"/>
              </a:lnSpc>
              <a:buNone/>
            </a:pPr>
            <a:r>
              <a:rPr lang="fr-FR" sz="1550" b="1" noProof="0" dirty="0">
                <a:latin typeface="Fira Sans" pitchFamily="34" charset="0"/>
                <a:ea typeface="Fira Sans" pitchFamily="34" charset="-122"/>
                <a:cs typeface="Fira Sans" pitchFamily="34" charset="-120"/>
              </a:rPr>
              <a:t>Protocoles stricts pour les environnements sensibles nécessitant les plus hauts standards de biosécurité</a:t>
            </a:r>
            <a:endParaRPr lang="fr-FR" sz="1550" b="1" noProof="0" dirty="0"/>
          </a:p>
        </p:txBody>
      </p:sp>
      <p:sp>
        <p:nvSpPr>
          <p:cNvPr id="6" name="Text 4"/>
          <p:cNvSpPr/>
          <p:nvPr/>
        </p:nvSpPr>
        <p:spPr>
          <a:xfrm>
            <a:off x="5352391" y="2144751"/>
            <a:ext cx="4182308" cy="620316"/>
          </a:xfrm>
          <a:prstGeom prst="rect">
            <a:avLst/>
          </a:prstGeom>
          <a:noFill/>
          <a:ln/>
        </p:spPr>
        <p:txBody>
          <a:bodyPr wrap="square" lIns="0" tIns="0" rIns="0" bIns="0" rtlCol="0" anchor="t"/>
          <a:lstStyle/>
          <a:p>
            <a:pPr marL="0" indent="0" algn="ctr">
              <a:lnSpc>
                <a:spcPts val="2400"/>
              </a:lnSpc>
              <a:buNone/>
            </a:pPr>
            <a:r>
              <a:rPr lang="fr-FR" sz="1950" b="1" noProof="0" dirty="0">
                <a:solidFill>
                  <a:srgbClr val="47038B"/>
                </a:solidFill>
                <a:latin typeface="Fira Mono Medium" pitchFamily="34" charset="0"/>
                <a:ea typeface="Fira Mono Medium" pitchFamily="34" charset="-122"/>
                <a:cs typeface="Fira Mono Medium" pitchFamily="34" charset="-120"/>
              </a:rPr>
              <a:t>Métiers domestiques et conciergerie</a:t>
            </a:r>
            <a:endParaRPr lang="fr-FR" sz="1950" b="1" noProof="0" dirty="0">
              <a:solidFill>
                <a:srgbClr val="47038B"/>
              </a:solidFill>
            </a:endParaRPr>
          </a:p>
        </p:txBody>
      </p:sp>
      <p:sp>
        <p:nvSpPr>
          <p:cNvPr id="7" name="Text 5"/>
          <p:cNvSpPr/>
          <p:nvPr/>
        </p:nvSpPr>
        <p:spPr>
          <a:xfrm>
            <a:off x="5223986" y="4208020"/>
            <a:ext cx="4182308" cy="952619"/>
          </a:xfrm>
          <a:prstGeom prst="rect">
            <a:avLst/>
          </a:prstGeom>
          <a:noFill/>
          <a:ln/>
        </p:spPr>
        <p:txBody>
          <a:bodyPr wrap="square" lIns="0" tIns="0" rIns="0" bIns="0" rtlCol="0" anchor="t"/>
          <a:lstStyle/>
          <a:p>
            <a:pPr marL="0" indent="0" algn="ctr">
              <a:lnSpc>
                <a:spcPts val="2500"/>
              </a:lnSpc>
              <a:buNone/>
            </a:pPr>
            <a:r>
              <a:rPr lang="fr-FR" sz="1550" b="1" noProof="0" dirty="0">
                <a:latin typeface="Fira Sans" pitchFamily="34" charset="0"/>
                <a:ea typeface="Fira Sans" pitchFamily="34" charset="-122"/>
                <a:cs typeface="Fira Sans" pitchFamily="34" charset="-120"/>
              </a:rPr>
              <a:t>Formation complète aux techniques modernes de nettoyage résidentiel et de services à domicile</a:t>
            </a:r>
            <a:endParaRPr lang="fr-FR" sz="1550" b="1" noProof="0" dirty="0"/>
          </a:p>
        </p:txBody>
      </p:sp>
      <p:sp>
        <p:nvSpPr>
          <p:cNvPr id="8" name="Text 6"/>
          <p:cNvSpPr/>
          <p:nvPr/>
        </p:nvSpPr>
        <p:spPr>
          <a:xfrm>
            <a:off x="9919921" y="2151109"/>
            <a:ext cx="4182308" cy="620316"/>
          </a:xfrm>
          <a:prstGeom prst="rect">
            <a:avLst/>
          </a:prstGeom>
          <a:noFill/>
          <a:ln/>
        </p:spPr>
        <p:txBody>
          <a:bodyPr wrap="square" lIns="0" tIns="0" rIns="0" bIns="0" rtlCol="0" anchor="t"/>
          <a:lstStyle/>
          <a:p>
            <a:pPr marL="0" indent="0" algn="ctr">
              <a:lnSpc>
                <a:spcPts val="2400"/>
              </a:lnSpc>
              <a:buNone/>
            </a:pPr>
            <a:r>
              <a:rPr lang="fr-FR" sz="1950" b="1" noProof="0" dirty="0">
                <a:solidFill>
                  <a:srgbClr val="47038B"/>
                </a:solidFill>
                <a:latin typeface="Fira Mono Medium" pitchFamily="34" charset="0"/>
                <a:ea typeface="Fira Mono Medium" pitchFamily="34" charset="-122"/>
                <a:cs typeface="Fira Mono Medium" pitchFamily="34" charset="-120"/>
              </a:rPr>
              <a:t>Restauration, hôtellerie et diverses institutions…</a:t>
            </a:r>
            <a:endParaRPr lang="fr-FR" sz="1950" b="1" noProof="0" dirty="0">
              <a:solidFill>
                <a:srgbClr val="47038B"/>
              </a:solidFill>
            </a:endParaRPr>
          </a:p>
        </p:txBody>
      </p:sp>
      <p:sp>
        <p:nvSpPr>
          <p:cNvPr id="9" name="Text 7"/>
          <p:cNvSpPr/>
          <p:nvPr/>
        </p:nvSpPr>
        <p:spPr>
          <a:xfrm>
            <a:off x="9825397" y="4214441"/>
            <a:ext cx="4182308" cy="635079"/>
          </a:xfrm>
          <a:prstGeom prst="rect">
            <a:avLst/>
          </a:prstGeom>
          <a:noFill/>
          <a:ln/>
        </p:spPr>
        <p:txBody>
          <a:bodyPr wrap="square" lIns="0" tIns="0" rIns="0" bIns="0" rtlCol="0" anchor="t"/>
          <a:lstStyle/>
          <a:p>
            <a:pPr marL="0" indent="0" algn="ctr">
              <a:lnSpc>
                <a:spcPts val="2500"/>
              </a:lnSpc>
              <a:buNone/>
            </a:pPr>
            <a:r>
              <a:rPr lang="fr-FR" sz="1550" b="1" noProof="0" dirty="0">
                <a:latin typeface="Fira Sans" pitchFamily="34" charset="0"/>
                <a:ea typeface="Fira Sans" pitchFamily="34" charset="-122"/>
                <a:cs typeface="Fira Sans" pitchFamily="34" charset="-120"/>
              </a:rPr>
              <a:t>Maîtrise des normes HACCP et excellence du service dans les métiers de l'accueil</a:t>
            </a:r>
            <a:endParaRPr lang="fr-FR" sz="1550" b="1" noProof="0" dirty="0"/>
          </a:p>
        </p:txBody>
      </p:sp>
      <p:sp>
        <p:nvSpPr>
          <p:cNvPr id="10" name="Text 8"/>
          <p:cNvSpPr/>
          <p:nvPr/>
        </p:nvSpPr>
        <p:spPr>
          <a:xfrm>
            <a:off x="191570" y="5540287"/>
            <a:ext cx="5505807" cy="310158"/>
          </a:xfrm>
          <a:prstGeom prst="rect">
            <a:avLst/>
          </a:prstGeom>
          <a:noFill/>
          <a:ln/>
        </p:spPr>
        <p:txBody>
          <a:bodyPr wrap="none" lIns="0" tIns="0" rIns="0" bIns="0" rtlCol="0" anchor="t"/>
          <a:lstStyle/>
          <a:p>
            <a:pPr marL="0" indent="0" algn="l">
              <a:lnSpc>
                <a:spcPts val="2400"/>
              </a:lnSpc>
              <a:buNone/>
            </a:pPr>
            <a:r>
              <a:rPr lang="fr-FR" sz="1950" b="1" noProof="0" dirty="0">
                <a:solidFill>
                  <a:srgbClr val="3371A5"/>
                </a:solidFill>
                <a:latin typeface="Fira Mono Medium" pitchFamily="34" charset="0"/>
                <a:ea typeface="Fira Mono Medium" pitchFamily="34" charset="-122"/>
                <a:cs typeface="Fira Mono Medium" pitchFamily="34" charset="-120"/>
              </a:rPr>
              <a:t>Audit-Formation intra-entreprise sur mesure</a:t>
            </a:r>
            <a:endParaRPr lang="fr-FR" sz="1950" b="1" noProof="0" dirty="0"/>
          </a:p>
        </p:txBody>
      </p:sp>
      <p:sp>
        <p:nvSpPr>
          <p:cNvPr id="11" name="Text 9"/>
          <p:cNvSpPr/>
          <p:nvPr/>
        </p:nvSpPr>
        <p:spPr>
          <a:xfrm>
            <a:off x="191570" y="5930509"/>
            <a:ext cx="6279356" cy="893298"/>
          </a:xfrm>
          <a:prstGeom prst="rect">
            <a:avLst/>
          </a:prstGeom>
          <a:noFill/>
          <a:ln/>
        </p:spPr>
        <p:txBody>
          <a:bodyPr wrap="square" lIns="0" tIns="0" rIns="0" bIns="0" rtlCol="0" anchor="t"/>
          <a:lstStyle/>
          <a:p>
            <a:pPr marL="0" indent="0" algn="ctr">
              <a:lnSpc>
                <a:spcPts val="2500"/>
              </a:lnSpc>
              <a:buNone/>
            </a:pPr>
            <a:r>
              <a:rPr lang="fr-FR" sz="1550" b="1" noProof="0" dirty="0">
                <a:latin typeface="Fira Sans" pitchFamily="34" charset="0"/>
                <a:ea typeface="Fira Sans" pitchFamily="34" charset="-122"/>
                <a:cs typeface="Fira Sans" pitchFamily="34" charset="-120"/>
              </a:rPr>
              <a:t>Audit, création de protocole et formation sur mesure adaptés à vos besoins spécifiques, dispensés dans vos locaux pour une application immédiate</a:t>
            </a:r>
            <a:endParaRPr lang="fr-FR" sz="1550" b="1" noProof="0" dirty="0"/>
          </a:p>
        </p:txBody>
      </p:sp>
      <p:sp>
        <p:nvSpPr>
          <p:cNvPr id="12" name="Text 10"/>
          <p:cNvSpPr/>
          <p:nvPr/>
        </p:nvSpPr>
        <p:spPr>
          <a:xfrm>
            <a:off x="7984812" y="5529768"/>
            <a:ext cx="6101001" cy="310158"/>
          </a:xfrm>
          <a:prstGeom prst="rect">
            <a:avLst/>
          </a:prstGeom>
          <a:noFill/>
          <a:ln/>
        </p:spPr>
        <p:txBody>
          <a:bodyPr wrap="none" lIns="0" tIns="0" rIns="0" bIns="0" rtlCol="0" anchor="t"/>
          <a:lstStyle/>
          <a:p>
            <a:pPr marL="0" indent="0" algn="l">
              <a:lnSpc>
                <a:spcPts val="2400"/>
              </a:lnSpc>
              <a:buNone/>
            </a:pPr>
            <a:r>
              <a:rPr lang="fr-FR" sz="1950" b="1" noProof="0" dirty="0">
                <a:solidFill>
                  <a:srgbClr val="47038B"/>
                </a:solidFill>
                <a:latin typeface="Fira Mono Medium" pitchFamily="34" charset="0"/>
                <a:ea typeface="Fira Mono Medium" pitchFamily="34" charset="-122"/>
                <a:cs typeface="Fira Mono Medium" pitchFamily="34" charset="-120"/>
              </a:rPr>
              <a:t>Accompagnement insertion et employabilité</a:t>
            </a:r>
            <a:endParaRPr lang="fr-FR" sz="1950" b="1" noProof="0" dirty="0">
              <a:solidFill>
                <a:srgbClr val="47038B"/>
              </a:solidFill>
            </a:endParaRPr>
          </a:p>
        </p:txBody>
      </p:sp>
      <p:sp>
        <p:nvSpPr>
          <p:cNvPr id="13" name="Text 11"/>
          <p:cNvSpPr/>
          <p:nvPr/>
        </p:nvSpPr>
        <p:spPr>
          <a:xfrm>
            <a:off x="7984812" y="5995309"/>
            <a:ext cx="6279356" cy="635079"/>
          </a:xfrm>
          <a:prstGeom prst="rect">
            <a:avLst/>
          </a:prstGeom>
          <a:noFill/>
          <a:ln/>
        </p:spPr>
        <p:txBody>
          <a:bodyPr wrap="square" lIns="0" tIns="0" rIns="0" bIns="0" rtlCol="0" anchor="t"/>
          <a:lstStyle/>
          <a:p>
            <a:pPr algn="ctr">
              <a:lnSpc>
                <a:spcPts val="2500"/>
              </a:lnSpc>
            </a:pPr>
            <a:r>
              <a:rPr lang="fr-FR" sz="1550" b="1" noProof="0" dirty="0">
                <a:latin typeface="Fira Sans" pitchFamily="34" charset="0"/>
                <a:ea typeface="Fira Sans" pitchFamily="34" charset="-122"/>
                <a:cs typeface="Fira Sans" pitchFamily="34" charset="-120"/>
              </a:rPr>
              <a:t> Stages d’insertion et préparation à  une intégration réussie sur le marché du travail</a:t>
            </a:r>
            <a:endParaRPr lang="fr-FR" sz="1550" b="1" noProof="0" dirty="0"/>
          </a:p>
        </p:txBody>
      </p:sp>
      <p:sp>
        <p:nvSpPr>
          <p:cNvPr id="14" name="Shape 12"/>
          <p:cNvSpPr/>
          <p:nvPr/>
        </p:nvSpPr>
        <p:spPr>
          <a:xfrm>
            <a:off x="992148" y="6966630"/>
            <a:ext cx="12326811" cy="1160740"/>
          </a:xfrm>
          <a:prstGeom prst="roundRect">
            <a:avLst>
              <a:gd name="adj" fmla="val 2565"/>
            </a:avLst>
          </a:prstGeom>
          <a:solidFill>
            <a:srgbClr val="4D0038"/>
          </a:solidFill>
          <a:ln/>
        </p:spPr>
        <p:txBody>
          <a:bodyPr/>
          <a:lstStyle/>
          <a:p>
            <a:endParaRPr lang="fr-FR" noProof="0" dirty="0"/>
          </a:p>
        </p:txBody>
      </p:sp>
      <p:pic>
        <p:nvPicPr>
          <p:cNvPr id="15" name="Image 0" descr="preencoded.png"/>
          <p:cNvPicPr>
            <a:picLocks noChangeAspect="1"/>
          </p:cNvPicPr>
          <p:nvPr/>
        </p:nvPicPr>
        <p:blipFill>
          <a:blip r:embed="rId3"/>
          <a:stretch>
            <a:fillRect/>
          </a:stretch>
        </p:blipFill>
        <p:spPr>
          <a:xfrm>
            <a:off x="1116151" y="7280488"/>
            <a:ext cx="248007" cy="198358"/>
          </a:xfrm>
          <a:prstGeom prst="rect">
            <a:avLst/>
          </a:prstGeom>
        </p:spPr>
      </p:pic>
      <p:sp>
        <p:nvSpPr>
          <p:cNvPr id="16" name="Text 13"/>
          <p:cNvSpPr/>
          <p:nvPr/>
        </p:nvSpPr>
        <p:spPr>
          <a:xfrm>
            <a:off x="1524001" y="7226614"/>
            <a:ext cx="11794958" cy="635079"/>
          </a:xfrm>
          <a:prstGeom prst="rect">
            <a:avLst/>
          </a:prstGeom>
          <a:noFill/>
          <a:ln/>
        </p:spPr>
        <p:txBody>
          <a:bodyPr wrap="square" lIns="0" tIns="0" rIns="0" bIns="0" rtlCol="0" anchor="t"/>
          <a:lstStyle/>
          <a:p>
            <a:pPr marL="0" indent="0" algn="l">
              <a:lnSpc>
                <a:spcPts val="2500"/>
              </a:lnSpc>
              <a:buNone/>
            </a:pPr>
            <a:r>
              <a:rPr lang="fr-FR" sz="1550" noProof="0" dirty="0">
                <a:solidFill>
                  <a:srgbClr val="FFFFFF"/>
                </a:solidFill>
                <a:latin typeface="Fira Sans" pitchFamily="34" charset="0"/>
                <a:ea typeface="Fira Sans" pitchFamily="34" charset="-122"/>
                <a:cs typeface="Fira Sans" pitchFamily="34" charset="-120"/>
              </a:rPr>
              <a:t>Chaque parcours est construit sur la base d'un protocole rigoureux et d'une pédagogie active, adaptée aux publics cible, quel que soit le niveau de littératie ou leur parcours antérieur.</a:t>
            </a:r>
            <a:endParaRPr lang="fr-FR" sz="1550" noProof="0" dirty="0"/>
          </a:p>
        </p:txBody>
      </p:sp>
      <p:pic>
        <p:nvPicPr>
          <p:cNvPr id="20" name="Image 19" descr="Une image contenant intérieur, Équipement médical, habits, Service&#10;&#10;Le contenu généré par l’IA peut être incorrect.">
            <a:extLst>
              <a:ext uri="{FF2B5EF4-FFF2-40B4-BE49-F238E27FC236}">
                <a16:creationId xmlns:a16="http://schemas.microsoft.com/office/drawing/2014/main" id="{8943D233-BC18-ECBB-F47E-B7D9F4D6E059}"/>
              </a:ext>
            </a:extLst>
          </p:cNvPr>
          <p:cNvPicPr>
            <a:picLocks noChangeAspect="1"/>
          </p:cNvPicPr>
          <p:nvPr/>
        </p:nvPicPr>
        <p:blipFill>
          <a:blip r:embed="rId4"/>
          <a:stretch>
            <a:fillRect/>
          </a:stretch>
        </p:blipFill>
        <p:spPr>
          <a:xfrm>
            <a:off x="4184484" y="2843952"/>
            <a:ext cx="1159196" cy="1284003"/>
          </a:xfrm>
          <a:prstGeom prst="rect">
            <a:avLst/>
          </a:prstGeom>
        </p:spPr>
      </p:pic>
      <p:pic>
        <p:nvPicPr>
          <p:cNvPr id="22" name="Image 21" descr="Une image contenant habits, personne, intérieur, Propreté&#10;&#10;Le contenu généré par l’IA peut être incorrect.">
            <a:extLst>
              <a:ext uri="{FF2B5EF4-FFF2-40B4-BE49-F238E27FC236}">
                <a16:creationId xmlns:a16="http://schemas.microsoft.com/office/drawing/2014/main" id="{3BBE58CB-D1D3-D92D-74F9-81C4E1A03A1B}"/>
              </a:ext>
            </a:extLst>
          </p:cNvPr>
          <p:cNvPicPr>
            <a:picLocks noChangeAspect="1"/>
          </p:cNvPicPr>
          <p:nvPr/>
        </p:nvPicPr>
        <p:blipFill>
          <a:blip r:embed="rId5"/>
          <a:stretch>
            <a:fillRect/>
          </a:stretch>
        </p:blipFill>
        <p:spPr>
          <a:xfrm>
            <a:off x="1524000" y="2843952"/>
            <a:ext cx="1147320" cy="1215321"/>
          </a:xfrm>
          <a:prstGeom prst="rect">
            <a:avLst/>
          </a:prstGeom>
        </p:spPr>
      </p:pic>
      <p:pic>
        <p:nvPicPr>
          <p:cNvPr id="24" name="Image 23" descr="Une image contenant intérieur, habits, mur, Comptoir&#10;&#10;Le contenu généré par l’IA peut être incorrect.">
            <a:extLst>
              <a:ext uri="{FF2B5EF4-FFF2-40B4-BE49-F238E27FC236}">
                <a16:creationId xmlns:a16="http://schemas.microsoft.com/office/drawing/2014/main" id="{1D80D390-B0A3-52D7-1300-73F5CF61D0B4}"/>
              </a:ext>
            </a:extLst>
          </p:cNvPr>
          <p:cNvPicPr>
            <a:picLocks noChangeAspect="1"/>
          </p:cNvPicPr>
          <p:nvPr/>
        </p:nvPicPr>
        <p:blipFill>
          <a:blip r:embed="rId6"/>
          <a:stretch>
            <a:fillRect/>
          </a:stretch>
        </p:blipFill>
        <p:spPr>
          <a:xfrm>
            <a:off x="5887650" y="2804486"/>
            <a:ext cx="1487674" cy="1377138"/>
          </a:xfrm>
          <a:prstGeom prst="rect">
            <a:avLst/>
          </a:prstGeom>
        </p:spPr>
      </p:pic>
      <p:pic>
        <p:nvPicPr>
          <p:cNvPr id="26" name="Image 25" descr="Une image contenant habits, personne, homme, meubles&#10;&#10;Le contenu généré par l’IA peut être incorrect.">
            <a:extLst>
              <a:ext uri="{FF2B5EF4-FFF2-40B4-BE49-F238E27FC236}">
                <a16:creationId xmlns:a16="http://schemas.microsoft.com/office/drawing/2014/main" id="{90C9FFC8-CED1-2A6C-78DF-569A74836024}"/>
              </a:ext>
            </a:extLst>
          </p:cNvPr>
          <p:cNvPicPr>
            <a:picLocks noChangeAspect="1"/>
          </p:cNvPicPr>
          <p:nvPr/>
        </p:nvPicPr>
        <p:blipFill>
          <a:blip r:embed="rId7"/>
          <a:stretch>
            <a:fillRect/>
          </a:stretch>
        </p:blipFill>
        <p:spPr>
          <a:xfrm>
            <a:off x="7513557" y="2830216"/>
            <a:ext cx="1310153" cy="1347240"/>
          </a:xfrm>
          <a:prstGeom prst="rect">
            <a:avLst/>
          </a:prstGeom>
        </p:spPr>
      </p:pic>
      <p:pic>
        <p:nvPicPr>
          <p:cNvPr id="28" name="Image 27" descr="Une image contenant habits, intérieur, meubles, personne&#10;&#10;Le contenu généré par l’IA peut être incorrect.">
            <a:extLst>
              <a:ext uri="{FF2B5EF4-FFF2-40B4-BE49-F238E27FC236}">
                <a16:creationId xmlns:a16="http://schemas.microsoft.com/office/drawing/2014/main" id="{F31456AF-7FBB-6698-A146-0FF7B0A5EDCA}"/>
              </a:ext>
            </a:extLst>
          </p:cNvPr>
          <p:cNvPicPr>
            <a:picLocks noChangeAspect="1"/>
          </p:cNvPicPr>
          <p:nvPr/>
        </p:nvPicPr>
        <p:blipFill>
          <a:blip r:embed="rId8"/>
          <a:stretch>
            <a:fillRect/>
          </a:stretch>
        </p:blipFill>
        <p:spPr>
          <a:xfrm>
            <a:off x="12248147" y="2790896"/>
            <a:ext cx="1310153" cy="1376962"/>
          </a:xfrm>
          <a:prstGeom prst="rect">
            <a:avLst/>
          </a:prstGeom>
        </p:spPr>
      </p:pic>
      <p:pic>
        <p:nvPicPr>
          <p:cNvPr id="31" name="Image 30" descr="Une image contenant intérieur, habits, personne, Service&#10;&#10;Le contenu généré par l’IA peut être incorrect.">
            <a:extLst>
              <a:ext uri="{FF2B5EF4-FFF2-40B4-BE49-F238E27FC236}">
                <a16:creationId xmlns:a16="http://schemas.microsoft.com/office/drawing/2014/main" id="{8CFEF491-E6B7-C0D4-7B93-E4769DD6C35B}"/>
              </a:ext>
            </a:extLst>
          </p:cNvPr>
          <p:cNvPicPr>
            <a:picLocks noChangeAspect="1"/>
          </p:cNvPicPr>
          <p:nvPr/>
        </p:nvPicPr>
        <p:blipFill>
          <a:blip r:embed="rId9"/>
          <a:stretch>
            <a:fillRect/>
          </a:stretch>
        </p:blipFill>
        <p:spPr>
          <a:xfrm>
            <a:off x="10638006" y="2804487"/>
            <a:ext cx="1092137" cy="1368408"/>
          </a:xfrm>
          <a:prstGeom prst="rect">
            <a:avLst/>
          </a:prstGeom>
        </p:spPr>
      </p:pic>
      <p:pic>
        <p:nvPicPr>
          <p:cNvPr id="34" name="Image 33" descr="Une image contenant intérieur, mur, habits, Équipement médical&#10;&#10;Le contenu généré par l’IA peut être incorrect.">
            <a:extLst>
              <a:ext uri="{FF2B5EF4-FFF2-40B4-BE49-F238E27FC236}">
                <a16:creationId xmlns:a16="http://schemas.microsoft.com/office/drawing/2014/main" id="{0B069428-FA22-2041-B767-2886E43094C2}"/>
              </a:ext>
            </a:extLst>
          </p:cNvPr>
          <p:cNvPicPr>
            <a:picLocks noChangeAspect="1"/>
          </p:cNvPicPr>
          <p:nvPr/>
        </p:nvPicPr>
        <p:blipFill>
          <a:blip r:embed="rId10"/>
          <a:stretch>
            <a:fillRect/>
          </a:stretch>
        </p:blipFill>
        <p:spPr>
          <a:xfrm>
            <a:off x="2820521" y="2825197"/>
            <a:ext cx="1252832" cy="1252832"/>
          </a:xfrm>
          <a:prstGeom prst="rect">
            <a:avLst/>
          </a:prstGeom>
        </p:spPr>
      </p:pic>
      <p:pic>
        <p:nvPicPr>
          <p:cNvPr id="36" name="Image 35" descr="Une image contenant texte, Police, graphisme, Graphique&#10;&#10;Le contenu généré par l’IA peut être incorrect.">
            <a:extLst>
              <a:ext uri="{FF2B5EF4-FFF2-40B4-BE49-F238E27FC236}">
                <a16:creationId xmlns:a16="http://schemas.microsoft.com/office/drawing/2014/main" id="{96331280-0067-AD27-3231-7C6B8761D8DA}"/>
              </a:ext>
            </a:extLst>
          </p:cNvPr>
          <p:cNvPicPr>
            <a:picLocks noChangeAspect="1"/>
          </p:cNvPicPr>
          <p:nvPr/>
        </p:nvPicPr>
        <p:blipFill>
          <a:blip r:embed="rId11"/>
          <a:stretch>
            <a:fillRect/>
          </a:stretch>
        </p:blipFill>
        <p:spPr>
          <a:xfrm>
            <a:off x="0" y="2963"/>
            <a:ext cx="1247411" cy="118897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2976086" y="321608"/>
            <a:ext cx="6830523" cy="509588"/>
          </a:xfrm>
          <a:prstGeom prst="rect">
            <a:avLst/>
          </a:prstGeom>
          <a:noFill/>
          <a:ln/>
        </p:spPr>
        <p:txBody>
          <a:bodyPr wrap="none" lIns="0" tIns="0" rIns="0" bIns="0" rtlCol="0" anchor="t"/>
          <a:lstStyle/>
          <a:p>
            <a:pPr marL="0" indent="0" algn="l">
              <a:lnSpc>
                <a:spcPts val="4000"/>
              </a:lnSpc>
              <a:buNone/>
            </a:pPr>
            <a:r>
              <a:rPr lang="fr-FR" sz="4400" b="1" noProof="0" dirty="0">
                <a:latin typeface="Baskerville Old Face" panose="02020602080505020303" pitchFamily="18" charset="77"/>
                <a:ea typeface="Fira Mono Medium" pitchFamily="34" charset="-122"/>
                <a:cs typeface="Fira Mono Medium" pitchFamily="34" charset="-120"/>
              </a:rPr>
              <a:t>Notre approche pédagogique</a:t>
            </a:r>
            <a:endParaRPr lang="fr-FR" sz="4400" b="1" noProof="0" dirty="0">
              <a:latin typeface="Baskerville Old Face" panose="02020602080505020303" pitchFamily="18" charset="77"/>
            </a:endParaRPr>
          </a:p>
        </p:txBody>
      </p:sp>
      <p:sp>
        <p:nvSpPr>
          <p:cNvPr id="3" name="Text 1"/>
          <p:cNvSpPr/>
          <p:nvPr/>
        </p:nvSpPr>
        <p:spPr>
          <a:xfrm>
            <a:off x="2043020" y="1352558"/>
            <a:ext cx="7763589" cy="703302"/>
          </a:xfrm>
          <a:prstGeom prst="rect">
            <a:avLst/>
          </a:prstGeom>
          <a:noFill/>
          <a:ln/>
        </p:spPr>
        <p:txBody>
          <a:bodyPr wrap="none" lIns="0" tIns="0" rIns="0" bIns="0" rtlCol="0" anchor="t"/>
          <a:lstStyle/>
          <a:p>
            <a:pPr marL="0" indent="0" algn="l">
              <a:lnSpc>
                <a:spcPts val="5500"/>
              </a:lnSpc>
              <a:buNone/>
            </a:pPr>
            <a:r>
              <a:rPr lang="fr-FR" sz="5400" noProof="0" dirty="0">
                <a:solidFill>
                  <a:srgbClr val="3371A5"/>
                </a:solidFill>
                <a:latin typeface="Baskerville Old Face" panose="02020602080505020303" pitchFamily="18" charset="77"/>
                <a:ea typeface="Fira Mono Medium" pitchFamily="34" charset="-122"/>
                <a:cs typeface="Fira Mono Medium" pitchFamily="34" charset="-120"/>
              </a:rPr>
              <a:t>Former pour transformer</a:t>
            </a:r>
            <a:endParaRPr lang="fr-FR" sz="5400" noProof="0" dirty="0">
              <a:latin typeface="Baskerville Old Face" panose="02020602080505020303" pitchFamily="18" charset="77"/>
            </a:endParaRPr>
          </a:p>
        </p:txBody>
      </p:sp>
      <p:sp>
        <p:nvSpPr>
          <p:cNvPr id="5" name="Text 2"/>
          <p:cNvSpPr/>
          <p:nvPr/>
        </p:nvSpPr>
        <p:spPr>
          <a:xfrm>
            <a:off x="10360174" y="1265587"/>
            <a:ext cx="3503087" cy="1304925"/>
          </a:xfrm>
          <a:prstGeom prst="rect">
            <a:avLst/>
          </a:prstGeom>
          <a:noFill/>
          <a:ln/>
        </p:spPr>
        <p:txBody>
          <a:bodyPr wrap="square" lIns="0" tIns="0" rIns="0" bIns="0" rtlCol="0" anchor="t"/>
          <a:lstStyle/>
          <a:p>
            <a:pPr marL="0" indent="0" algn="ctr">
              <a:lnSpc>
                <a:spcPts val="2050"/>
              </a:lnSpc>
              <a:buNone/>
            </a:pPr>
            <a:endParaRPr lang="fr-FR" sz="2000" b="1" noProof="0" dirty="0">
              <a:latin typeface="Baskerville Old Face" panose="02020602080505020303" pitchFamily="18" charset="77"/>
            </a:endParaRPr>
          </a:p>
        </p:txBody>
      </p:sp>
      <p:sp>
        <p:nvSpPr>
          <p:cNvPr id="6" name="Text 3"/>
          <p:cNvSpPr/>
          <p:nvPr/>
        </p:nvSpPr>
        <p:spPr>
          <a:xfrm>
            <a:off x="10687004" y="5245545"/>
            <a:ext cx="3079018" cy="782955"/>
          </a:xfrm>
          <a:prstGeom prst="rect">
            <a:avLst/>
          </a:prstGeom>
          <a:noFill/>
          <a:ln/>
        </p:spPr>
        <p:txBody>
          <a:bodyPr wrap="square" lIns="0" tIns="0" rIns="0" bIns="0" rtlCol="0" anchor="t"/>
          <a:lstStyle/>
          <a:p>
            <a:pPr marL="0" indent="0" algn="ctr">
              <a:lnSpc>
                <a:spcPts val="2050"/>
              </a:lnSpc>
              <a:buNone/>
            </a:pPr>
            <a:r>
              <a:rPr lang="fr-FR" sz="2000" b="1" noProof="0" dirty="0">
                <a:solidFill>
                  <a:srgbClr val="47038B"/>
                </a:solidFill>
                <a:latin typeface="Baskerville Old Face" panose="02020602080505020303" pitchFamily="18" charset="77"/>
                <a:ea typeface="Fira Sans" pitchFamily="34" charset="-122"/>
                <a:cs typeface="Fira Sans" pitchFamily="34" charset="-120"/>
              </a:rPr>
              <a:t>Notre méthode reconnaît que chaque apprenant arrive avec son histoire, ses forces et ses défis. Nous adaptons notre rythme, nos supports et nos techniques pour assurer que personne ne reste sur le bord du chemin.</a:t>
            </a:r>
            <a:endParaRPr lang="fr-FR" sz="2000" b="1" noProof="0" dirty="0">
              <a:solidFill>
                <a:srgbClr val="47038B"/>
              </a:solidFill>
              <a:latin typeface="Baskerville Old Face" panose="02020602080505020303" pitchFamily="18" charset="77"/>
            </a:endParaRPr>
          </a:p>
        </p:txBody>
      </p:sp>
      <p:sp>
        <p:nvSpPr>
          <p:cNvPr id="7" name="Text 4"/>
          <p:cNvSpPr/>
          <p:nvPr/>
        </p:nvSpPr>
        <p:spPr>
          <a:xfrm>
            <a:off x="652343" y="8478083"/>
            <a:ext cx="162997" cy="203835"/>
          </a:xfrm>
          <a:prstGeom prst="rect">
            <a:avLst/>
          </a:prstGeom>
          <a:noFill/>
          <a:ln/>
        </p:spPr>
        <p:txBody>
          <a:bodyPr wrap="none" lIns="0" tIns="0" rIns="0" bIns="0" rtlCol="0" anchor="t"/>
          <a:lstStyle/>
          <a:p>
            <a:pPr marL="0" indent="0" algn="l">
              <a:lnSpc>
                <a:spcPts val="2050"/>
              </a:lnSpc>
              <a:buNone/>
            </a:pPr>
            <a:r>
              <a:rPr lang="fr-FR" sz="1250" noProof="0" dirty="0">
                <a:solidFill>
                  <a:srgbClr val="47038B"/>
                </a:solidFill>
                <a:latin typeface="Fira Mono Light" pitchFamily="34" charset="0"/>
                <a:ea typeface="Fira Mono Light" pitchFamily="34" charset="-122"/>
                <a:cs typeface="Fira Mono Light" pitchFamily="34" charset="-120"/>
              </a:rPr>
              <a:t>01</a:t>
            </a:r>
            <a:endParaRPr lang="fr-FR" sz="1250" noProof="0" dirty="0">
              <a:solidFill>
                <a:srgbClr val="47038B"/>
              </a:solidFill>
            </a:endParaRPr>
          </a:p>
        </p:txBody>
      </p:sp>
      <p:sp>
        <p:nvSpPr>
          <p:cNvPr id="8" name="Shape 5"/>
          <p:cNvSpPr/>
          <p:nvPr/>
        </p:nvSpPr>
        <p:spPr>
          <a:xfrm>
            <a:off x="652343" y="8732282"/>
            <a:ext cx="6581299" cy="22860"/>
          </a:xfrm>
          <a:prstGeom prst="rect">
            <a:avLst/>
          </a:prstGeom>
          <a:solidFill>
            <a:srgbClr val="FF6BD8"/>
          </a:solidFill>
          <a:ln/>
        </p:spPr>
        <p:txBody>
          <a:bodyPr/>
          <a:lstStyle/>
          <a:p>
            <a:endParaRPr lang="fr-FR" noProof="0" dirty="0">
              <a:solidFill>
                <a:srgbClr val="47038B"/>
              </a:solidFill>
            </a:endParaRPr>
          </a:p>
        </p:txBody>
      </p:sp>
      <p:sp>
        <p:nvSpPr>
          <p:cNvPr id="9" name="Text 6"/>
          <p:cNvSpPr/>
          <p:nvPr/>
        </p:nvSpPr>
        <p:spPr>
          <a:xfrm>
            <a:off x="652343" y="8859441"/>
            <a:ext cx="2323743" cy="254794"/>
          </a:xfrm>
          <a:prstGeom prst="rect">
            <a:avLst/>
          </a:prstGeom>
          <a:noFill/>
          <a:ln/>
        </p:spPr>
        <p:txBody>
          <a:bodyPr wrap="none" lIns="0" tIns="0" rIns="0" bIns="0" rtlCol="0" anchor="t"/>
          <a:lstStyle/>
          <a:p>
            <a:pPr marL="0" indent="0" algn="l">
              <a:lnSpc>
                <a:spcPts val="2000"/>
              </a:lnSpc>
              <a:buNone/>
            </a:pPr>
            <a:r>
              <a:rPr lang="fr-FR" sz="1600" noProof="0" dirty="0">
                <a:solidFill>
                  <a:srgbClr val="47038B"/>
                </a:solidFill>
                <a:latin typeface="Fira Mono Medium" pitchFamily="34" charset="0"/>
                <a:ea typeface="Fira Mono Medium" pitchFamily="34" charset="-122"/>
                <a:cs typeface="Fira Mono Medium" pitchFamily="34" charset="-120"/>
              </a:rPr>
              <a:t>Pédagogie inclusive</a:t>
            </a:r>
            <a:endParaRPr lang="fr-FR" sz="1600" noProof="0" dirty="0">
              <a:solidFill>
                <a:srgbClr val="47038B"/>
              </a:solidFill>
            </a:endParaRPr>
          </a:p>
        </p:txBody>
      </p:sp>
      <p:sp>
        <p:nvSpPr>
          <p:cNvPr id="10" name="Text 7"/>
          <p:cNvSpPr/>
          <p:nvPr/>
        </p:nvSpPr>
        <p:spPr>
          <a:xfrm>
            <a:off x="652343" y="9211985"/>
            <a:ext cx="6581299" cy="521970"/>
          </a:xfrm>
          <a:prstGeom prst="rect">
            <a:avLst/>
          </a:prstGeom>
          <a:noFill/>
          <a:ln/>
        </p:spPr>
        <p:txBody>
          <a:bodyPr wrap="square" lIns="0" tIns="0" rIns="0" bIns="0" rtlCol="0" anchor="t"/>
          <a:lstStyle/>
          <a:p>
            <a:pPr marL="0" indent="0" algn="l">
              <a:lnSpc>
                <a:spcPts val="2050"/>
              </a:lnSpc>
              <a:buNone/>
            </a:pPr>
            <a:r>
              <a:rPr lang="fr-FR" sz="1250" noProof="0" dirty="0">
                <a:solidFill>
                  <a:srgbClr val="47038B"/>
                </a:solidFill>
                <a:latin typeface="Fira Sans" pitchFamily="34" charset="0"/>
                <a:ea typeface="Fira Sans" pitchFamily="34" charset="-122"/>
                <a:cs typeface="Fira Sans" pitchFamily="34" charset="-120"/>
              </a:rPr>
              <a:t>Alphabétisation fonctionnelle intégrée, utilisation stratégique de pictogrammes et supports visuels pour garantir l'accessibilité universelle</a:t>
            </a:r>
            <a:endParaRPr lang="fr-FR" sz="1250" noProof="0" dirty="0">
              <a:solidFill>
                <a:srgbClr val="47038B"/>
              </a:solidFill>
            </a:endParaRPr>
          </a:p>
        </p:txBody>
      </p:sp>
      <p:sp>
        <p:nvSpPr>
          <p:cNvPr id="11" name="Text 8"/>
          <p:cNvSpPr/>
          <p:nvPr/>
        </p:nvSpPr>
        <p:spPr>
          <a:xfrm>
            <a:off x="7396639" y="8478083"/>
            <a:ext cx="162997" cy="203835"/>
          </a:xfrm>
          <a:prstGeom prst="rect">
            <a:avLst/>
          </a:prstGeom>
          <a:noFill/>
          <a:ln/>
        </p:spPr>
        <p:txBody>
          <a:bodyPr wrap="none" lIns="0" tIns="0" rIns="0" bIns="0" rtlCol="0" anchor="t"/>
          <a:lstStyle/>
          <a:p>
            <a:pPr marL="0" indent="0" algn="l">
              <a:lnSpc>
                <a:spcPts val="2050"/>
              </a:lnSpc>
              <a:buNone/>
            </a:pPr>
            <a:r>
              <a:rPr lang="fr-FR" sz="1250" noProof="0" dirty="0">
                <a:solidFill>
                  <a:srgbClr val="47038B"/>
                </a:solidFill>
                <a:latin typeface="Fira Mono Light" pitchFamily="34" charset="0"/>
                <a:ea typeface="Fira Mono Light" pitchFamily="34" charset="-122"/>
                <a:cs typeface="Fira Mono Light" pitchFamily="34" charset="-120"/>
              </a:rPr>
              <a:t>02</a:t>
            </a:r>
            <a:endParaRPr lang="fr-FR" sz="1250" noProof="0" dirty="0">
              <a:solidFill>
                <a:srgbClr val="47038B"/>
              </a:solidFill>
            </a:endParaRPr>
          </a:p>
        </p:txBody>
      </p:sp>
      <p:sp>
        <p:nvSpPr>
          <p:cNvPr id="12" name="Shape 9"/>
          <p:cNvSpPr/>
          <p:nvPr/>
        </p:nvSpPr>
        <p:spPr>
          <a:xfrm>
            <a:off x="7396639" y="8732282"/>
            <a:ext cx="6581418" cy="22860"/>
          </a:xfrm>
          <a:prstGeom prst="rect">
            <a:avLst/>
          </a:prstGeom>
          <a:solidFill>
            <a:srgbClr val="FF6BD8"/>
          </a:solidFill>
          <a:ln/>
        </p:spPr>
        <p:txBody>
          <a:bodyPr/>
          <a:lstStyle/>
          <a:p>
            <a:endParaRPr lang="fr-FR" noProof="0" dirty="0">
              <a:solidFill>
                <a:srgbClr val="47038B"/>
              </a:solidFill>
            </a:endParaRPr>
          </a:p>
        </p:txBody>
      </p:sp>
      <p:sp>
        <p:nvSpPr>
          <p:cNvPr id="13" name="Text 10"/>
          <p:cNvSpPr/>
          <p:nvPr/>
        </p:nvSpPr>
        <p:spPr>
          <a:xfrm>
            <a:off x="7396639" y="8859441"/>
            <a:ext cx="3791426" cy="254794"/>
          </a:xfrm>
          <a:prstGeom prst="rect">
            <a:avLst/>
          </a:prstGeom>
          <a:noFill/>
          <a:ln/>
        </p:spPr>
        <p:txBody>
          <a:bodyPr wrap="none" lIns="0" tIns="0" rIns="0" bIns="0" rtlCol="0" anchor="t"/>
          <a:lstStyle/>
          <a:p>
            <a:pPr marL="0" indent="0" algn="l">
              <a:lnSpc>
                <a:spcPts val="2000"/>
              </a:lnSpc>
              <a:buNone/>
            </a:pPr>
            <a:r>
              <a:rPr lang="fr-FR" sz="1600" noProof="0" dirty="0">
                <a:solidFill>
                  <a:srgbClr val="47038B"/>
                </a:solidFill>
                <a:latin typeface="Fira Mono Medium" pitchFamily="34" charset="0"/>
                <a:ea typeface="Fira Mono Medium" pitchFamily="34" charset="-122"/>
                <a:cs typeface="Fira Mono Medium" pitchFamily="34" charset="-120"/>
              </a:rPr>
              <a:t>Évaluations en situation réelle</a:t>
            </a:r>
            <a:endParaRPr lang="fr-FR" sz="1600" noProof="0" dirty="0">
              <a:solidFill>
                <a:srgbClr val="47038B"/>
              </a:solidFill>
            </a:endParaRPr>
          </a:p>
        </p:txBody>
      </p:sp>
      <p:sp>
        <p:nvSpPr>
          <p:cNvPr id="14" name="Text 11"/>
          <p:cNvSpPr/>
          <p:nvPr/>
        </p:nvSpPr>
        <p:spPr>
          <a:xfrm>
            <a:off x="7396639" y="9211985"/>
            <a:ext cx="6581418" cy="521970"/>
          </a:xfrm>
          <a:prstGeom prst="rect">
            <a:avLst/>
          </a:prstGeom>
          <a:noFill/>
          <a:ln/>
        </p:spPr>
        <p:txBody>
          <a:bodyPr wrap="square" lIns="0" tIns="0" rIns="0" bIns="0" rtlCol="0" anchor="t"/>
          <a:lstStyle/>
          <a:p>
            <a:pPr marL="0" indent="0" algn="l">
              <a:lnSpc>
                <a:spcPts val="2050"/>
              </a:lnSpc>
              <a:buNone/>
            </a:pPr>
            <a:r>
              <a:rPr lang="fr-FR" sz="1250" noProof="0" dirty="0">
                <a:solidFill>
                  <a:srgbClr val="47038B"/>
                </a:solidFill>
                <a:latin typeface="Fira Sans" pitchFamily="34" charset="0"/>
                <a:ea typeface="Fira Sans" pitchFamily="34" charset="-122"/>
                <a:cs typeface="Fira Sans" pitchFamily="34" charset="-120"/>
              </a:rPr>
              <a:t>Tests pratiques dans des conditions authentiques pour mesurer la compétence opérationnelle effective</a:t>
            </a:r>
            <a:endParaRPr lang="fr-FR" sz="1250" noProof="0" dirty="0">
              <a:solidFill>
                <a:srgbClr val="47038B"/>
              </a:solidFill>
            </a:endParaRPr>
          </a:p>
        </p:txBody>
      </p:sp>
      <p:sp>
        <p:nvSpPr>
          <p:cNvPr id="15" name="Text 12"/>
          <p:cNvSpPr/>
          <p:nvPr/>
        </p:nvSpPr>
        <p:spPr>
          <a:xfrm>
            <a:off x="652343" y="10019228"/>
            <a:ext cx="162997" cy="203835"/>
          </a:xfrm>
          <a:prstGeom prst="rect">
            <a:avLst/>
          </a:prstGeom>
          <a:noFill/>
          <a:ln/>
        </p:spPr>
        <p:txBody>
          <a:bodyPr wrap="none" lIns="0" tIns="0" rIns="0" bIns="0" rtlCol="0" anchor="t"/>
          <a:lstStyle/>
          <a:p>
            <a:pPr marL="0" indent="0" algn="l">
              <a:lnSpc>
                <a:spcPts val="2050"/>
              </a:lnSpc>
              <a:buNone/>
            </a:pPr>
            <a:r>
              <a:rPr lang="fr-FR" sz="1250" noProof="0" dirty="0">
                <a:solidFill>
                  <a:srgbClr val="47038B"/>
                </a:solidFill>
                <a:latin typeface="Fira Mono Light" pitchFamily="34" charset="0"/>
                <a:ea typeface="Fira Mono Light" pitchFamily="34" charset="-122"/>
                <a:cs typeface="Fira Mono Light" pitchFamily="34" charset="-120"/>
              </a:rPr>
              <a:t>03</a:t>
            </a:r>
            <a:endParaRPr lang="fr-FR" sz="1250" noProof="0" dirty="0">
              <a:solidFill>
                <a:srgbClr val="47038B"/>
              </a:solidFill>
            </a:endParaRPr>
          </a:p>
        </p:txBody>
      </p:sp>
      <p:sp>
        <p:nvSpPr>
          <p:cNvPr id="16" name="Shape 13"/>
          <p:cNvSpPr/>
          <p:nvPr/>
        </p:nvSpPr>
        <p:spPr>
          <a:xfrm>
            <a:off x="652343" y="10273427"/>
            <a:ext cx="6581299" cy="22860"/>
          </a:xfrm>
          <a:prstGeom prst="rect">
            <a:avLst/>
          </a:prstGeom>
          <a:solidFill>
            <a:srgbClr val="FF6BD8"/>
          </a:solidFill>
          <a:ln/>
        </p:spPr>
        <p:txBody>
          <a:bodyPr/>
          <a:lstStyle/>
          <a:p>
            <a:endParaRPr lang="fr-FR" noProof="0" dirty="0">
              <a:solidFill>
                <a:srgbClr val="47038B"/>
              </a:solidFill>
            </a:endParaRPr>
          </a:p>
        </p:txBody>
      </p:sp>
      <p:sp>
        <p:nvSpPr>
          <p:cNvPr id="17" name="Text 14"/>
          <p:cNvSpPr/>
          <p:nvPr/>
        </p:nvSpPr>
        <p:spPr>
          <a:xfrm>
            <a:off x="652343" y="10400586"/>
            <a:ext cx="3546753" cy="254794"/>
          </a:xfrm>
          <a:prstGeom prst="rect">
            <a:avLst/>
          </a:prstGeom>
          <a:noFill/>
          <a:ln/>
        </p:spPr>
        <p:txBody>
          <a:bodyPr wrap="none" lIns="0" tIns="0" rIns="0" bIns="0" rtlCol="0" anchor="t"/>
          <a:lstStyle/>
          <a:p>
            <a:pPr marL="0" indent="0" algn="l">
              <a:lnSpc>
                <a:spcPts val="2000"/>
              </a:lnSpc>
              <a:buNone/>
            </a:pPr>
            <a:r>
              <a:rPr lang="fr-FR" sz="1600" noProof="0" dirty="0">
                <a:solidFill>
                  <a:srgbClr val="47038B"/>
                </a:solidFill>
                <a:latin typeface="Fira Mono Medium" pitchFamily="34" charset="0"/>
                <a:ea typeface="Fira Mono Medium" pitchFamily="34" charset="-122"/>
                <a:cs typeface="Fira Mono Medium" pitchFamily="34" charset="-120"/>
              </a:rPr>
              <a:t>Accompagnement post-formation</a:t>
            </a:r>
            <a:endParaRPr lang="fr-FR" sz="1600" noProof="0" dirty="0">
              <a:solidFill>
                <a:srgbClr val="47038B"/>
              </a:solidFill>
            </a:endParaRPr>
          </a:p>
        </p:txBody>
      </p:sp>
      <p:sp>
        <p:nvSpPr>
          <p:cNvPr id="18" name="Text 15"/>
          <p:cNvSpPr/>
          <p:nvPr/>
        </p:nvSpPr>
        <p:spPr>
          <a:xfrm>
            <a:off x="652343" y="10753130"/>
            <a:ext cx="6581299" cy="521970"/>
          </a:xfrm>
          <a:prstGeom prst="rect">
            <a:avLst/>
          </a:prstGeom>
          <a:noFill/>
          <a:ln/>
        </p:spPr>
        <p:txBody>
          <a:bodyPr wrap="square" lIns="0" tIns="0" rIns="0" bIns="0" rtlCol="0" anchor="t"/>
          <a:lstStyle/>
          <a:p>
            <a:pPr marL="0" indent="0" algn="l">
              <a:lnSpc>
                <a:spcPts val="2050"/>
              </a:lnSpc>
              <a:buNone/>
            </a:pPr>
            <a:r>
              <a:rPr lang="fr-FR" sz="1250" noProof="0" dirty="0">
                <a:solidFill>
                  <a:srgbClr val="47038B"/>
                </a:solidFill>
                <a:latin typeface="Fira Sans" pitchFamily="34" charset="0"/>
                <a:ea typeface="Fira Sans" pitchFamily="34" charset="-122"/>
                <a:cs typeface="Fira Sans" pitchFamily="34" charset="-120"/>
              </a:rPr>
              <a:t>Suivi continu sur le terrain, coaching d'intégration et support technique après la certification</a:t>
            </a:r>
            <a:endParaRPr lang="fr-FR" sz="1250" noProof="0" dirty="0">
              <a:solidFill>
                <a:srgbClr val="47038B"/>
              </a:solidFill>
            </a:endParaRPr>
          </a:p>
        </p:txBody>
      </p:sp>
      <p:sp>
        <p:nvSpPr>
          <p:cNvPr id="19" name="Text 16"/>
          <p:cNvSpPr/>
          <p:nvPr/>
        </p:nvSpPr>
        <p:spPr>
          <a:xfrm>
            <a:off x="7396639" y="10019228"/>
            <a:ext cx="162997" cy="203835"/>
          </a:xfrm>
          <a:prstGeom prst="rect">
            <a:avLst/>
          </a:prstGeom>
          <a:noFill/>
          <a:ln/>
        </p:spPr>
        <p:txBody>
          <a:bodyPr wrap="none" lIns="0" tIns="0" rIns="0" bIns="0" rtlCol="0" anchor="t"/>
          <a:lstStyle/>
          <a:p>
            <a:pPr marL="0" indent="0" algn="l">
              <a:lnSpc>
                <a:spcPts val="2050"/>
              </a:lnSpc>
              <a:buNone/>
            </a:pPr>
            <a:r>
              <a:rPr lang="fr-FR" sz="1250" noProof="0" dirty="0">
                <a:solidFill>
                  <a:srgbClr val="47038B"/>
                </a:solidFill>
                <a:latin typeface="Fira Mono Light" pitchFamily="34" charset="0"/>
                <a:ea typeface="Fira Mono Light" pitchFamily="34" charset="-122"/>
                <a:cs typeface="Fira Mono Light" pitchFamily="34" charset="-120"/>
              </a:rPr>
              <a:t>04</a:t>
            </a:r>
            <a:endParaRPr lang="fr-FR" sz="1250" noProof="0" dirty="0">
              <a:solidFill>
                <a:srgbClr val="47038B"/>
              </a:solidFill>
            </a:endParaRPr>
          </a:p>
        </p:txBody>
      </p:sp>
      <p:sp>
        <p:nvSpPr>
          <p:cNvPr id="20" name="Shape 17"/>
          <p:cNvSpPr/>
          <p:nvPr/>
        </p:nvSpPr>
        <p:spPr>
          <a:xfrm>
            <a:off x="7396639" y="10273427"/>
            <a:ext cx="6581418" cy="22860"/>
          </a:xfrm>
          <a:prstGeom prst="rect">
            <a:avLst/>
          </a:prstGeom>
          <a:solidFill>
            <a:srgbClr val="FF6BD8"/>
          </a:solidFill>
          <a:ln/>
        </p:spPr>
        <p:txBody>
          <a:bodyPr/>
          <a:lstStyle/>
          <a:p>
            <a:endParaRPr lang="fr-FR" noProof="0" dirty="0">
              <a:solidFill>
                <a:srgbClr val="47038B"/>
              </a:solidFill>
            </a:endParaRPr>
          </a:p>
        </p:txBody>
      </p:sp>
      <p:sp>
        <p:nvSpPr>
          <p:cNvPr id="21" name="Text 18"/>
          <p:cNvSpPr/>
          <p:nvPr/>
        </p:nvSpPr>
        <p:spPr>
          <a:xfrm>
            <a:off x="7396639" y="10400586"/>
            <a:ext cx="2812971" cy="254794"/>
          </a:xfrm>
          <a:prstGeom prst="rect">
            <a:avLst/>
          </a:prstGeom>
          <a:noFill/>
          <a:ln/>
        </p:spPr>
        <p:txBody>
          <a:bodyPr wrap="none" lIns="0" tIns="0" rIns="0" bIns="0" rtlCol="0" anchor="t"/>
          <a:lstStyle/>
          <a:p>
            <a:pPr marL="0" indent="0" algn="l">
              <a:lnSpc>
                <a:spcPts val="2000"/>
              </a:lnSpc>
              <a:buNone/>
            </a:pPr>
            <a:r>
              <a:rPr lang="fr-FR" sz="1600" noProof="0" dirty="0">
                <a:solidFill>
                  <a:srgbClr val="47038B"/>
                </a:solidFill>
                <a:latin typeface="Fira Mono Medium" pitchFamily="34" charset="0"/>
                <a:ea typeface="Fira Mono Medium" pitchFamily="34" charset="-122"/>
                <a:cs typeface="Fira Mono Medium" pitchFamily="34" charset="-120"/>
              </a:rPr>
              <a:t>Formation de formateurs</a:t>
            </a:r>
            <a:endParaRPr lang="fr-FR" sz="1600" noProof="0" dirty="0">
              <a:solidFill>
                <a:srgbClr val="47038B"/>
              </a:solidFill>
            </a:endParaRPr>
          </a:p>
        </p:txBody>
      </p:sp>
      <p:sp>
        <p:nvSpPr>
          <p:cNvPr id="22" name="Text 19"/>
          <p:cNvSpPr/>
          <p:nvPr/>
        </p:nvSpPr>
        <p:spPr>
          <a:xfrm>
            <a:off x="7396639" y="10753130"/>
            <a:ext cx="6581418" cy="521970"/>
          </a:xfrm>
          <a:prstGeom prst="rect">
            <a:avLst/>
          </a:prstGeom>
          <a:noFill/>
          <a:ln/>
        </p:spPr>
        <p:txBody>
          <a:bodyPr wrap="square" lIns="0" tIns="0" rIns="0" bIns="0" rtlCol="0" anchor="t"/>
          <a:lstStyle/>
          <a:p>
            <a:pPr marL="0" indent="0" algn="l">
              <a:lnSpc>
                <a:spcPts val="2050"/>
              </a:lnSpc>
              <a:buNone/>
            </a:pPr>
            <a:r>
              <a:rPr lang="fr-FR" sz="1250" noProof="0" dirty="0">
                <a:solidFill>
                  <a:srgbClr val="47038B"/>
                </a:solidFill>
                <a:latin typeface="Fira Sans" pitchFamily="34" charset="0"/>
                <a:ea typeface="Fira Sans" pitchFamily="34" charset="-122"/>
                <a:cs typeface="Fira Sans" pitchFamily="34" charset="-120"/>
              </a:rPr>
              <a:t>Transmission de notre méthodologie unique pour démultiplier l'impact et maintenir les standards CYDILY</a:t>
            </a:r>
            <a:endParaRPr lang="fr-FR" sz="1250" noProof="0" dirty="0">
              <a:solidFill>
                <a:srgbClr val="47038B"/>
              </a:solidFill>
            </a:endParaRPr>
          </a:p>
        </p:txBody>
      </p:sp>
      <p:pic>
        <p:nvPicPr>
          <p:cNvPr id="26" name="Image 25" descr="Une image contenant habits, personne, plein air, ciel&#10;&#10;Le contenu généré par l’IA peut être incorrect.">
            <a:extLst>
              <a:ext uri="{FF2B5EF4-FFF2-40B4-BE49-F238E27FC236}">
                <a16:creationId xmlns:a16="http://schemas.microsoft.com/office/drawing/2014/main" id="{B782E070-2BB3-8454-2E87-D718654F46CF}"/>
              </a:ext>
            </a:extLst>
          </p:cNvPr>
          <p:cNvPicPr>
            <a:picLocks noChangeAspect="1"/>
          </p:cNvPicPr>
          <p:nvPr/>
        </p:nvPicPr>
        <p:blipFill>
          <a:blip r:embed="rId3"/>
          <a:stretch>
            <a:fillRect/>
          </a:stretch>
        </p:blipFill>
        <p:spPr>
          <a:xfrm>
            <a:off x="522221" y="2280848"/>
            <a:ext cx="4453717" cy="5121019"/>
          </a:xfrm>
          <a:prstGeom prst="rect">
            <a:avLst/>
          </a:prstGeom>
        </p:spPr>
      </p:pic>
      <p:pic>
        <p:nvPicPr>
          <p:cNvPr id="28" name="Image 27" descr="Une image contenant habits, personne, plein air, homme&#10;&#10;Le contenu généré par l’IA peut être incorrect.">
            <a:extLst>
              <a:ext uri="{FF2B5EF4-FFF2-40B4-BE49-F238E27FC236}">
                <a16:creationId xmlns:a16="http://schemas.microsoft.com/office/drawing/2014/main" id="{502468BF-92E4-CFF7-18B9-807D8CA3F9CA}"/>
              </a:ext>
            </a:extLst>
          </p:cNvPr>
          <p:cNvPicPr>
            <a:picLocks noChangeAspect="1"/>
          </p:cNvPicPr>
          <p:nvPr/>
        </p:nvPicPr>
        <p:blipFill>
          <a:blip r:embed="rId4"/>
          <a:stretch>
            <a:fillRect/>
          </a:stretch>
        </p:blipFill>
        <p:spPr>
          <a:xfrm>
            <a:off x="5199213" y="2280848"/>
            <a:ext cx="4351932" cy="5121019"/>
          </a:xfrm>
          <a:prstGeom prst="rect">
            <a:avLst/>
          </a:prstGeom>
        </p:spPr>
      </p:pic>
      <p:graphicFrame>
        <p:nvGraphicFramePr>
          <p:cNvPr id="29" name="Tableau 28">
            <a:extLst>
              <a:ext uri="{FF2B5EF4-FFF2-40B4-BE49-F238E27FC236}">
                <a16:creationId xmlns:a16="http://schemas.microsoft.com/office/drawing/2014/main" id="{7FEB24D8-3BDF-A3E7-1D3E-DFF945DEF39F}"/>
              </a:ext>
            </a:extLst>
          </p:cNvPr>
          <p:cNvGraphicFramePr>
            <a:graphicFrameLocks noGrp="1"/>
          </p:cNvGraphicFramePr>
          <p:nvPr>
            <p:extLst>
              <p:ext uri="{D42A27DB-BD31-4B8C-83A1-F6EECF244321}">
                <p14:modId xmlns:p14="http://schemas.microsoft.com/office/powerpoint/2010/main" val="1269852030"/>
              </p:ext>
            </p:extLst>
          </p:nvPr>
        </p:nvGraphicFramePr>
        <p:xfrm>
          <a:off x="9997693" y="1209949"/>
          <a:ext cx="4228047" cy="3782770"/>
        </p:xfrm>
        <a:graphic>
          <a:graphicData uri="http://schemas.openxmlformats.org/drawingml/2006/table">
            <a:tbl>
              <a:tblPr firstRow="1" bandRow="1">
                <a:tableStyleId>{5C22544A-7EE6-4342-B048-85BDC9FD1C3A}</a:tableStyleId>
              </a:tblPr>
              <a:tblGrid>
                <a:gridCol w="4228047">
                  <a:extLst>
                    <a:ext uri="{9D8B030D-6E8A-4147-A177-3AD203B41FA5}">
                      <a16:colId xmlns:a16="http://schemas.microsoft.com/office/drawing/2014/main" val="832894361"/>
                    </a:ext>
                  </a:extLst>
                </a:gridCol>
              </a:tblGrid>
              <a:tr h="3782770">
                <a:tc>
                  <a:txBody>
                    <a:bodyPr/>
                    <a:lstStyle/>
                    <a:p>
                      <a:pPr marL="0" marR="0" lvl="0" indent="0" algn="ctr" defTabSz="1097280" rtl="0" eaLnBrk="1" fontAlgn="auto" latinLnBrk="0" hangingPunct="1">
                        <a:lnSpc>
                          <a:spcPct val="100000"/>
                        </a:lnSpc>
                        <a:spcBef>
                          <a:spcPts val="0"/>
                        </a:spcBef>
                        <a:spcAft>
                          <a:spcPts val="0"/>
                        </a:spcAft>
                        <a:buClrTx/>
                        <a:buSzTx/>
                        <a:buFontTx/>
                        <a:buNone/>
                        <a:tabLst/>
                        <a:defRPr/>
                      </a:pPr>
                      <a:r>
                        <a:rPr lang="fr-FR" sz="2000" b="1" noProof="0" dirty="0">
                          <a:solidFill>
                            <a:schemeClr val="tx1"/>
                          </a:solidFill>
                          <a:latin typeface="Baskerville Old Face" panose="02020602080505020303" pitchFamily="18" charset="77"/>
                          <a:ea typeface="Fira Sans" pitchFamily="34" charset="-122"/>
                          <a:cs typeface="Fira Sans" pitchFamily="34" charset="-120"/>
                        </a:rPr>
                        <a:t>Nos formations vont bien au-delà de la simple transmission technique : elles révèlent le potentiel humain et cultivent la fierté professionnelle. Nous privilégions systématiquement la pédagogie active, les mises en situation réelles et les outils de suivi personnalisés pour garantir non seulement l'acquisition de connaissances, mais surtout la compétence réelle et mesurable sur le terrain.</a:t>
                      </a:r>
                      <a:endParaRPr lang="fr-FR" sz="2000" b="1" noProof="0" dirty="0">
                        <a:solidFill>
                          <a:schemeClr val="tx1"/>
                        </a:solidFill>
                        <a:latin typeface="Baskerville Old Face" panose="02020602080505020303" pitchFamily="18" charset="77"/>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93297298"/>
                  </a:ext>
                </a:extLst>
              </a:tr>
            </a:tbl>
          </a:graphicData>
        </a:graphic>
      </p:graphicFrame>
      <p:graphicFrame>
        <p:nvGraphicFramePr>
          <p:cNvPr id="30" name="Tableau 29">
            <a:extLst>
              <a:ext uri="{FF2B5EF4-FFF2-40B4-BE49-F238E27FC236}">
                <a16:creationId xmlns:a16="http://schemas.microsoft.com/office/drawing/2014/main" id="{78DE779B-7871-A90A-01CE-2652B8476B7C}"/>
              </a:ext>
            </a:extLst>
          </p:cNvPr>
          <p:cNvGraphicFramePr>
            <a:graphicFrameLocks noGrp="1"/>
          </p:cNvGraphicFramePr>
          <p:nvPr>
            <p:extLst>
              <p:ext uri="{D42A27DB-BD31-4B8C-83A1-F6EECF244321}">
                <p14:modId xmlns:p14="http://schemas.microsoft.com/office/powerpoint/2010/main" val="1388071158"/>
              </p:ext>
            </p:extLst>
          </p:nvPr>
        </p:nvGraphicFramePr>
        <p:xfrm>
          <a:off x="10117267" y="5114268"/>
          <a:ext cx="3988904" cy="2344501"/>
        </p:xfrm>
        <a:graphic>
          <a:graphicData uri="http://schemas.openxmlformats.org/drawingml/2006/table">
            <a:tbl>
              <a:tblPr firstRow="1" bandRow="1">
                <a:tableStyleId>{5C22544A-7EE6-4342-B048-85BDC9FD1C3A}</a:tableStyleId>
              </a:tblPr>
              <a:tblGrid>
                <a:gridCol w="3988904">
                  <a:extLst>
                    <a:ext uri="{9D8B030D-6E8A-4147-A177-3AD203B41FA5}">
                      <a16:colId xmlns:a16="http://schemas.microsoft.com/office/drawing/2014/main" val="1435325027"/>
                    </a:ext>
                  </a:extLst>
                </a:gridCol>
              </a:tblGrid>
              <a:tr h="2344501">
                <a:tc>
                  <a:txBody>
                    <a:bodyPr/>
                    <a:lstStyle/>
                    <a:p>
                      <a:endParaRPr lang="fr-FR"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0135453"/>
                  </a:ext>
                </a:extLst>
              </a:tr>
            </a:tbl>
          </a:graphicData>
        </a:graphic>
      </p:graphicFrame>
      <p:pic>
        <p:nvPicPr>
          <p:cNvPr id="32" name="Image 31" descr="Une image contenant texte, Police, graphisme, Graphique&#10;&#10;Le contenu généré par l’IA peut être incorrect.">
            <a:extLst>
              <a:ext uri="{FF2B5EF4-FFF2-40B4-BE49-F238E27FC236}">
                <a16:creationId xmlns:a16="http://schemas.microsoft.com/office/drawing/2014/main" id="{9176CB07-0075-0372-F7BE-7542CACBCC1B}"/>
              </a:ext>
            </a:extLst>
          </p:cNvPr>
          <p:cNvPicPr>
            <a:picLocks noChangeAspect="1"/>
          </p:cNvPicPr>
          <p:nvPr/>
        </p:nvPicPr>
        <p:blipFill>
          <a:blip r:embed="rId5"/>
          <a:stretch>
            <a:fillRect/>
          </a:stretch>
        </p:blipFill>
        <p:spPr>
          <a:xfrm>
            <a:off x="0" y="-9569"/>
            <a:ext cx="1337833" cy="127515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809659" y="146010"/>
            <a:ext cx="4635579" cy="579358"/>
          </a:xfrm>
          <a:prstGeom prst="rect">
            <a:avLst/>
          </a:prstGeom>
          <a:noFill/>
          <a:ln/>
        </p:spPr>
        <p:txBody>
          <a:bodyPr wrap="none" lIns="0" tIns="0" rIns="0" bIns="0" rtlCol="0" anchor="t"/>
          <a:lstStyle/>
          <a:p>
            <a:pPr marL="0" indent="0" algn="l">
              <a:lnSpc>
                <a:spcPts val="4550"/>
              </a:lnSpc>
              <a:buNone/>
            </a:pPr>
            <a:r>
              <a:rPr lang="fr-FR" sz="3650" b="1" noProof="0" dirty="0">
                <a:solidFill>
                  <a:schemeClr val="accent1"/>
                </a:solidFill>
                <a:latin typeface="Baskerville Old Face" panose="02020602080505020303" pitchFamily="18" charset="77"/>
                <a:ea typeface="Fira Mono Medium" pitchFamily="34" charset="-122"/>
                <a:cs typeface="Fira Mono Medium" pitchFamily="34" charset="-120"/>
              </a:rPr>
              <a:t>NOS FORMATEURS</a:t>
            </a:r>
            <a:endParaRPr lang="fr-FR" sz="3650" b="1" noProof="0" dirty="0">
              <a:solidFill>
                <a:schemeClr val="accent1"/>
              </a:solidFill>
              <a:latin typeface="Baskerville Old Face" panose="02020602080505020303" pitchFamily="18" charset="77"/>
            </a:endParaRPr>
          </a:p>
        </p:txBody>
      </p:sp>
      <p:sp>
        <p:nvSpPr>
          <p:cNvPr id="3" name="Text 1"/>
          <p:cNvSpPr/>
          <p:nvPr/>
        </p:nvSpPr>
        <p:spPr>
          <a:xfrm flipH="1">
            <a:off x="2911653" y="725368"/>
            <a:ext cx="9080478" cy="1523157"/>
          </a:xfrm>
          <a:prstGeom prst="rect">
            <a:avLst/>
          </a:prstGeom>
          <a:noFill/>
          <a:ln/>
        </p:spPr>
        <p:txBody>
          <a:bodyPr wrap="none" lIns="0" tIns="0" rIns="0" bIns="0" rtlCol="0" anchor="t"/>
          <a:lstStyle/>
          <a:p>
            <a:pPr lvl="0" algn="ctr" eaLnBrk="0" fontAlgn="base" hangingPunct="0">
              <a:spcBef>
                <a:spcPct val="0"/>
              </a:spcBef>
              <a:spcAft>
                <a:spcPct val="0"/>
              </a:spcAft>
            </a:pPr>
            <a:r>
              <a:rPr lang="fr-FR" sz="3200" noProof="0" dirty="0">
                <a:latin typeface="Baskerville Old Face" panose="02020602080505020303" pitchFamily="18" charset="77"/>
              </a:rPr>
              <a:t>Nos formateurs incarnent ce que nous enseignons  </a:t>
            </a:r>
          </a:p>
          <a:p>
            <a:pPr lvl="0" algn="ctr" eaLnBrk="0" fontAlgn="base" hangingPunct="0">
              <a:spcBef>
                <a:spcPct val="0"/>
              </a:spcBef>
              <a:spcAft>
                <a:spcPct val="0"/>
              </a:spcAft>
            </a:pPr>
            <a:r>
              <a:rPr lang="fr-FR" sz="3200" noProof="0" dirty="0">
                <a:latin typeface="Baskerville Old Face" panose="02020602080505020303" pitchFamily="18" charset="77"/>
              </a:rPr>
              <a:t>l’excellence dans les détails,</a:t>
            </a:r>
          </a:p>
          <a:p>
            <a:pPr lvl="0" algn="ctr" eaLnBrk="0" fontAlgn="base" hangingPunct="0">
              <a:spcBef>
                <a:spcPct val="0"/>
              </a:spcBef>
              <a:spcAft>
                <a:spcPct val="0"/>
              </a:spcAft>
            </a:pPr>
            <a:r>
              <a:rPr lang="fr-FR" sz="3200" noProof="0" dirty="0">
                <a:latin typeface="Baskerville Old Face" panose="02020602080505020303" pitchFamily="18" charset="77"/>
              </a:rPr>
              <a:t> la bienveillance dans la manière et la fierté dans l’accomplissement.</a:t>
            </a:r>
          </a:p>
        </p:txBody>
      </p:sp>
      <p:pic>
        <p:nvPicPr>
          <p:cNvPr id="21" name="Image 20" descr="Une image contenant habits, ciel, personne, sourire&#10;&#10;Le contenu généré par l’IA peut être incorrect.">
            <a:extLst>
              <a:ext uri="{FF2B5EF4-FFF2-40B4-BE49-F238E27FC236}">
                <a16:creationId xmlns:a16="http://schemas.microsoft.com/office/drawing/2014/main" id="{16459937-C36B-B39C-1107-79728348E71D}"/>
              </a:ext>
            </a:extLst>
          </p:cNvPr>
          <p:cNvPicPr>
            <a:picLocks noChangeAspect="1"/>
          </p:cNvPicPr>
          <p:nvPr/>
        </p:nvPicPr>
        <p:blipFill>
          <a:blip r:embed="rId3"/>
          <a:stretch>
            <a:fillRect/>
          </a:stretch>
        </p:blipFill>
        <p:spPr>
          <a:xfrm>
            <a:off x="4163560" y="2372945"/>
            <a:ext cx="5927776" cy="5006716"/>
          </a:xfrm>
          <a:prstGeom prst="rect">
            <a:avLst/>
          </a:prstGeom>
        </p:spPr>
      </p:pic>
      <p:sp>
        <p:nvSpPr>
          <p:cNvPr id="22" name="Rectangle 2">
            <a:extLst>
              <a:ext uri="{FF2B5EF4-FFF2-40B4-BE49-F238E27FC236}">
                <a16:creationId xmlns:a16="http://schemas.microsoft.com/office/drawing/2014/main" id="{AC5F5CCF-C569-DCBC-D6AC-C32E630AF74C}"/>
              </a:ext>
            </a:extLst>
          </p:cNvPr>
          <p:cNvSpPr>
            <a:spLocks noChangeArrowheads="1"/>
          </p:cNvSpPr>
          <p:nvPr/>
        </p:nvSpPr>
        <p:spPr bwMode="auto">
          <a:xfrm>
            <a:off x="235940" y="2396341"/>
            <a:ext cx="3867462"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fr-FR" b="1" i="0" u="none" strike="noStrike" cap="none" normalizeH="0" baseline="0" noProof="0" dirty="0">
                <a:ln>
                  <a:noFill/>
                </a:ln>
                <a:solidFill>
                  <a:srgbClr val="47038B"/>
                </a:solidFill>
                <a:effectLst/>
                <a:latin typeface="Baskerville Old Face" panose="02020602080505020303" pitchFamily="18" charset="77"/>
              </a:rPr>
              <a:t>NOS MOTEURS DE QUALITÉ</a:t>
            </a:r>
          </a:p>
          <a:p>
            <a:pPr marL="0" marR="0" lvl="0" indent="0" algn="ctr" defTabSz="914400" rtl="0" eaLnBrk="0" fontAlgn="base" latinLnBrk="0" hangingPunct="0">
              <a:lnSpc>
                <a:spcPct val="100000"/>
              </a:lnSpc>
              <a:spcBef>
                <a:spcPct val="0"/>
              </a:spcBef>
              <a:spcAft>
                <a:spcPct val="0"/>
              </a:spcAft>
              <a:buClrTx/>
              <a:buSzTx/>
              <a:buFontTx/>
              <a:buNone/>
              <a:tabLst/>
            </a:pPr>
            <a:endParaRPr kumimoji="0" lang="fr-FR" b="1" i="0" u="none" strike="noStrike" cap="none" normalizeH="0" baseline="0" noProof="0" dirty="0">
              <a:ln>
                <a:noFill/>
              </a:ln>
              <a:solidFill>
                <a:schemeClr val="bg1"/>
              </a:solidFill>
              <a:effectLst/>
              <a:latin typeface="Baskerville Old Face" panose="02020602080505020303" pitchFamily="18" charset="77"/>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fr-FR" b="1" i="0" u="none" strike="noStrike" cap="none" normalizeH="0" baseline="0" noProof="0" dirty="0">
                <a:ln>
                  <a:noFill/>
                </a:ln>
                <a:solidFill>
                  <a:schemeClr val="accent1"/>
                </a:solidFill>
                <a:effectLst/>
                <a:latin typeface="Baskerville Old Face" panose="02020602080505020303" pitchFamily="18" charset="77"/>
              </a:rPr>
              <a:t>Former dans la posture, transmettre avec bienveillance.</a:t>
            </a:r>
          </a:p>
          <a:p>
            <a:pPr marL="0" marR="0" lvl="0" indent="0" algn="ctr" defTabSz="914400" rtl="0" eaLnBrk="0" fontAlgn="base" latinLnBrk="0" hangingPunct="0">
              <a:lnSpc>
                <a:spcPct val="100000"/>
              </a:lnSpc>
              <a:spcBef>
                <a:spcPct val="0"/>
              </a:spcBef>
              <a:spcAft>
                <a:spcPct val="0"/>
              </a:spcAft>
              <a:buClrTx/>
              <a:buSzTx/>
              <a:buFontTx/>
              <a:buNone/>
              <a:tabLst/>
            </a:pPr>
            <a:endParaRPr kumimoji="0" lang="fr-FR" b="0" i="0" u="none" strike="noStrike" cap="none" normalizeH="0" baseline="0" noProof="0" dirty="0">
              <a:ln>
                <a:noFill/>
              </a:ln>
              <a:effectLst/>
              <a:latin typeface="Baskerville Old Face" panose="02020602080505020303" pitchFamily="18" charset="77"/>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fr-FR" b="0" i="0" u="none" strike="noStrike" cap="none" normalizeH="0" baseline="0" noProof="0" dirty="0">
                <a:ln>
                  <a:noFill/>
                </a:ln>
                <a:effectLst/>
                <a:latin typeface="Baskerville Old Face" panose="02020602080505020303" pitchFamily="18" charset="77"/>
              </a:rPr>
              <a:t>Chez CYDILY, être formateur n’est pas un simple rôle : </a:t>
            </a:r>
          </a:p>
          <a:p>
            <a:pPr marL="0" marR="0" lvl="0" indent="0" algn="ctr" defTabSz="914400" rtl="0" eaLnBrk="0" fontAlgn="base" latinLnBrk="0" hangingPunct="0">
              <a:lnSpc>
                <a:spcPct val="100000"/>
              </a:lnSpc>
              <a:spcBef>
                <a:spcPct val="0"/>
              </a:spcBef>
              <a:spcAft>
                <a:spcPct val="0"/>
              </a:spcAft>
              <a:buClrTx/>
              <a:buSzTx/>
              <a:buFontTx/>
              <a:buNone/>
              <a:tabLst/>
            </a:pPr>
            <a:endParaRPr lang="fr-FR" noProof="0" dirty="0">
              <a:latin typeface="Baskerville Old Face" panose="02020602080505020303" pitchFamily="18" charset="77"/>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fr-FR" b="0" i="0" u="none" strike="noStrike" cap="none" normalizeH="0" baseline="0" noProof="0" dirty="0">
                <a:ln>
                  <a:noFill/>
                </a:ln>
                <a:effectLst/>
                <a:latin typeface="Baskerville Old Face" panose="02020602080505020303" pitchFamily="18" charset="77"/>
              </a:rPr>
              <a:t>c’est un engagement.</a:t>
            </a:r>
            <a:br>
              <a:rPr kumimoji="0" lang="fr-FR" b="0" i="0" u="none" strike="noStrike" cap="none" normalizeH="0" baseline="0" noProof="0" dirty="0">
                <a:ln>
                  <a:noFill/>
                </a:ln>
                <a:effectLst/>
                <a:latin typeface="Baskerville Old Face" panose="02020602080505020303" pitchFamily="18" charset="77"/>
              </a:rPr>
            </a:br>
            <a:r>
              <a:rPr kumimoji="0" lang="fr-FR" b="0" i="0" u="none" strike="noStrike" cap="none" normalizeH="0" baseline="0" noProof="0" dirty="0">
                <a:ln>
                  <a:noFill/>
                </a:ln>
                <a:effectLst/>
                <a:latin typeface="Baskerville Old Face" panose="02020602080505020303" pitchFamily="18" charset="77"/>
              </a:rPr>
              <a:t>Chaque formateur est d’abord formé </a:t>
            </a:r>
            <a:r>
              <a:rPr kumimoji="0" lang="fr-FR" b="1" i="0" u="none" strike="noStrike" cap="none" normalizeH="0" baseline="0" noProof="0" dirty="0">
                <a:ln>
                  <a:noFill/>
                </a:ln>
                <a:effectLst/>
                <a:latin typeface="Baskerville Old Face" panose="02020602080505020303" pitchFamily="18" charset="77"/>
              </a:rPr>
              <a:t>à la pédagogie et à la posture CYDILY</a:t>
            </a:r>
            <a:r>
              <a:rPr kumimoji="0" lang="fr-FR" b="0" i="0" u="none" strike="noStrike" cap="none" normalizeH="0" baseline="0" noProof="0" dirty="0">
                <a:ln>
                  <a:noFill/>
                </a:ln>
                <a:effectLst/>
                <a:latin typeface="Baskerville Old Face" panose="02020602080505020303" pitchFamily="18" charset="77"/>
              </a:rPr>
              <a:t>, fondées sur </a:t>
            </a:r>
            <a:r>
              <a:rPr kumimoji="0" lang="fr-FR" b="1" i="0" u="none" strike="noStrike" cap="none" normalizeH="0" baseline="0" noProof="0" dirty="0">
                <a:ln>
                  <a:noFill/>
                </a:ln>
                <a:effectLst/>
                <a:latin typeface="Baskerville Old Face" panose="02020602080505020303" pitchFamily="18" charset="77"/>
              </a:rPr>
              <a:t>l’écoute active, la patience et la transmission par l’exemple.</a:t>
            </a:r>
            <a:endParaRPr kumimoji="0" lang="fr-FR" b="0" i="0" u="none" strike="noStrike" cap="none" normalizeH="0" baseline="0" noProof="0" dirty="0">
              <a:ln>
                <a:noFill/>
              </a:ln>
              <a:effectLst/>
              <a:latin typeface="Baskerville Old Face" panose="02020602080505020303" pitchFamily="18" charset="77"/>
            </a:endParaRPr>
          </a:p>
          <a:p>
            <a:pPr marL="0" marR="0" lvl="0" indent="0" algn="ctr" defTabSz="914400" rtl="0" eaLnBrk="0" fontAlgn="base" latinLnBrk="0" hangingPunct="0">
              <a:lnSpc>
                <a:spcPct val="100000"/>
              </a:lnSpc>
              <a:spcBef>
                <a:spcPct val="0"/>
              </a:spcBef>
              <a:spcAft>
                <a:spcPct val="0"/>
              </a:spcAft>
              <a:buClrTx/>
              <a:buSzTx/>
              <a:buFontTx/>
              <a:buNone/>
              <a:tabLst/>
            </a:pPr>
            <a:endParaRPr lang="fr-FR" noProof="0" dirty="0">
              <a:latin typeface="Baskerville Old Face" panose="02020602080505020303" pitchFamily="18" charset="77"/>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fr-FR" b="0" i="0" u="none" strike="noStrike" cap="none" normalizeH="0" baseline="0" noProof="0" dirty="0">
                <a:ln>
                  <a:noFill/>
                </a:ln>
                <a:effectLst/>
                <a:latin typeface="Baskerville Old Face" panose="02020602080505020303" pitchFamily="18" charset="77"/>
              </a:rPr>
              <a:t>La qualité de nos formations repose sur ces femmes et ces hommes choisis pour leur sérieux, leur humanité et leur sens du travail juste</a:t>
            </a:r>
            <a:r>
              <a:rPr kumimoji="0" lang="fr-FR" b="0" i="0" u="none" strike="noStrike" cap="none" normalizeH="0" baseline="0" noProof="0" dirty="0">
                <a:ln>
                  <a:noFill/>
                </a:ln>
                <a:solidFill>
                  <a:schemeClr val="bg1"/>
                </a:solidFill>
                <a:effectLst/>
                <a:latin typeface="Baskerville Old Face" panose="02020602080505020303" pitchFamily="18" charset="77"/>
              </a:rPr>
              <a:t>.</a:t>
            </a:r>
          </a:p>
        </p:txBody>
      </p:sp>
      <p:sp>
        <p:nvSpPr>
          <p:cNvPr id="23" name="ZoneTexte 22">
            <a:extLst>
              <a:ext uri="{FF2B5EF4-FFF2-40B4-BE49-F238E27FC236}">
                <a16:creationId xmlns:a16="http://schemas.microsoft.com/office/drawing/2014/main" id="{00433DB5-B454-7908-0EB5-C0539C7D507A}"/>
              </a:ext>
            </a:extLst>
          </p:cNvPr>
          <p:cNvSpPr txBox="1"/>
          <p:nvPr/>
        </p:nvSpPr>
        <p:spPr>
          <a:xfrm>
            <a:off x="10211653" y="2392548"/>
            <a:ext cx="4033738" cy="5078313"/>
          </a:xfrm>
          <a:prstGeom prst="rect">
            <a:avLst/>
          </a:prstGeom>
          <a:noFill/>
        </p:spPr>
        <p:txBody>
          <a:bodyPr wrap="square" rtlCol="0">
            <a:spAutoFit/>
          </a:bodyPr>
          <a:lstStyle/>
          <a:p>
            <a:pPr lvl="0" algn="ctr" eaLnBrk="0" fontAlgn="base" hangingPunct="0">
              <a:spcBef>
                <a:spcPct val="0"/>
              </a:spcBef>
              <a:spcAft>
                <a:spcPct val="0"/>
              </a:spcAft>
            </a:pPr>
            <a:r>
              <a:rPr lang="fr-FR" b="1" noProof="0" dirty="0">
                <a:solidFill>
                  <a:srgbClr val="47038B"/>
                </a:solidFill>
                <a:latin typeface="Baskerville Old Face" panose="02020602080505020303" pitchFamily="18" charset="77"/>
              </a:rPr>
              <a:t>NOS FONDEMENTS</a:t>
            </a:r>
          </a:p>
          <a:p>
            <a:pPr lvl="0" algn="ctr" eaLnBrk="0" fontAlgn="base" hangingPunct="0">
              <a:spcBef>
                <a:spcPct val="0"/>
              </a:spcBef>
              <a:spcAft>
                <a:spcPct val="0"/>
              </a:spcAft>
            </a:pPr>
            <a:endParaRPr lang="fr-FR" b="1" noProof="0" dirty="0">
              <a:solidFill>
                <a:schemeClr val="bg1"/>
              </a:solidFill>
              <a:latin typeface="Baskerville Old Face" panose="02020602080505020303" pitchFamily="18" charset="77"/>
            </a:endParaRPr>
          </a:p>
          <a:p>
            <a:pPr lvl="0" algn="ctr" eaLnBrk="0" fontAlgn="base" hangingPunct="0">
              <a:spcBef>
                <a:spcPct val="0"/>
              </a:spcBef>
              <a:spcAft>
                <a:spcPct val="0"/>
              </a:spcAft>
            </a:pPr>
            <a:r>
              <a:rPr lang="fr-FR" b="1" noProof="0" dirty="0">
                <a:solidFill>
                  <a:schemeClr val="accent1"/>
                </a:solidFill>
                <a:latin typeface="Baskerville Old Face" panose="02020602080505020303" pitchFamily="18" charset="77"/>
              </a:rPr>
              <a:t>Bienveillance, respect, écoute et accompagnement.</a:t>
            </a:r>
          </a:p>
          <a:p>
            <a:pPr lvl="0" algn="ctr" eaLnBrk="0" fontAlgn="base" hangingPunct="0">
              <a:spcBef>
                <a:spcPct val="0"/>
              </a:spcBef>
              <a:spcAft>
                <a:spcPct val="0"/>
              </a:spcAft>
            </a:pPr>
            <a:endParaRPr lang="fr-FR" noProof="0" dirty="0">
              <a:latin typeface="Baskerville Old Face" panose="02020602080505020303" pitchFamily="18" charset="77"/>
            </a:endParaRPr>
          </a:p>
          <a:p>
            <a:pPr lvl="0" algn="ctr" eaLnBrk="0" fontAlgn="base" hangingPunct="0">
              <a:spcBef>
                <a:spcPct val="0"/>
              </a:spcBef>
              <a:spcAft>
                <a:spcPct val="0"/>
              </a:spcAft>
              <a:buFontTx/>
              <a:buChar char="•"/>
            </a:pPr>
            <a:r>
              <a:rPr lang="fr-FR" b="1" noProof="0" dirty="0">
                <a:latin typeface="Baskerville Old Face" panose="02020602080505020303" pitchFamily="18" charset="77"/>
              </a:rPr>
              <a:t>Formation CYDILY obligatoire</a:t>
            </a:r>
            <a:r>
              <a:rPr lang="fr-FR" noProof="0" dirty="0">
                <a:latin typeface="Baskerville Old Face" panose="02020602080505020303" pitchFamily="18" charset="77"/>
              </a:rPr>
              <a:t> </a:t>
            </a:r>
          </a:p>
          <a:p>
            <a:pPr lvl="0" algn="ctr" eaLnBrk="0" fontAlgn="base" hangingPunct="0">
              <a:spcBef>
                <a:spcPct val="0"/>
              </a:spcBef>
              <a:spcAft>
                <a:spcPct val="0"/>
              </a:spcAft>
            </a:pPr>
            <a:r>
              <a:rPr lang="fr-FR" noProof="0" dirty="0">
                <a:latin typeface="Baskerville Old Face" panose="02020602080505020303" pitchFamily="18" charset="77"/>
              </a:rPr>
              <a:t>pour une unité de méthode et de valeurs.</a:t>
            </a:r>
          </a:p>
          <a:p>
            <a:pPr lvl="0" algn="ctr" eaLnBrk="0" fontAlgn="base" hangingPunct="0">
              <a:spcBef>
                <a:spcPct val="0"/>
              </a:spcBef>
              <a:spcAft>
                <a:spcPct val="0"/>
              </a:spcAft>
            </a:pPr>
            <a:endParaRPr lang="fr-FR" noProof="0" dirty="0">
              <a:latin typeface="Baskerville Old Face" panose="02020602080505020303" pitchFamily="18" charset="77"/>
            </a:endParaRPr>
          </a:p>
          <a:p>
            <a:pPr lvl="0" algn="ctr" eaLnBrk="0" fontAlgn="base" hangingPunct="0">
              <a:spcBef>
                <a:spcPct val="0"/>
              </a:spcBef>
              <a:spcAft>
                <a:spcPct val="0"/>
              </a:spcAft>
              <a:buFontTx/>
              <a:buChar char="•"/>
            </a:pPr>
            <a:r>
              <a:rPr lang="fr-FR" b="1" noProof="0" dirty="0">
                <a:latin typeface="Baskerville Old Face" panose="02020602080505020303" pitchFamily="18" charset="77"/>
              </a:rPr>
              <a:t>Posture exemplaire</a:t>
            </a:r>
          </a:p>
          <a:p>
            <a:pPr lvl="0" algn="ctr" eaLnBrk="0" fontAlgn="base" hangingPunct="0">
              <a:spcBef>
                <a:spcPct val="0"/>
              </a:spcBef>
              <a:spcAft>
                <a:spcPct val="0"/>
              </a:spcAft>
            </a:pPr>
            <a:r>
              <a:rPr lang="fr-FR" noProof="0" dirty="0">
                <a:latin typeface="Baskerville Old Face" panose="02020602080505020303" pitchFamily="18" charset="77"/>
              </a:rPr>
              <a:t>ponctualité, respect du cadre, rigueur et humilité.</a:t>
            </a:r>
          </a:p>
          <a:p>
            <a:pPr lvl="0" algn="ctr" eaLnBrk="0" fontAlgn="base" hangingPunct="0">
              <a:spcBef>
                <a:spcPct val="0"/>
              </a:spcBef>
              <a:spcAft>
                <a:spcPct val="0"/>
              </a:spcAft>
            </a:pPr>
            <a:endParaRPr lang="fr-FR" noProof="0" dirty="0">
              <a:latin typeface="Baskerville Old Face" panose="02020602080505020303" pitchFamily="18" charset="77"/>
            </a:endParaRPr>
          </a:p>
          <a:p>
            <a:pPr lvl="0" algn="ctr" eaLnBrk="0" fontAlgn="base" hangingPunct="0">
              <a:spcBef>
                <a:spcPct val="0"/>
              </a:spcBef>
              <a:spcAft>
                <a:spcPct val="0"/>
              </a:spcAft>
              <a:buFontTx/>
              <a:buChar char="•"/>
            </a:pPr>
            <a:r>
              <a:rPr lang="fr-FR" b="1" noProof="0" dirty="0">
                <a:latin typeface="Baskerville Old Face" panose="02020602080505020303" pitchFamily="18" charset="77"/>
              </a:rPr>
              <a:t>Pédagogie vivante</a:t>
            </a:r>
          </a:p>
          <a:p>
            <a:pPr lvl="0" algn="ctr" eaLnBrk="0" fontAlgn="base" hangingPunct="0">
              <a:spcBef>
                <a:spcPct val="0"/>
              </a:spcBef>
              <a:spcAft>
                <a:spcPct val="0"/>
              </a:spcAft>
            </a:pPr>
            <a:r>
              <a:rPr lang="fr-FR" noProof="0" dirty="0">
                <a:latin typeface="Baskerville Old Face" panose="02020602080505020303" pitchFamily="18" charset="77"/>
              </a:rPr>
              <a:t>partir du réel, observer, corriger, valoriser.</a:t>
            </a:r>
          </a:p>
          <a:p>
            <a:pPr lvl="0" algn="ctr" eaLnBrk="0" fontAlgn="base" hangingPunct="0">
              <a:spcBef>
                <a:spcPct val="0"/>
              </a:spcBef>
              <a:spcAft>
                <a:spcPct val="0"/>
              </a:spcAft>
              <a:buFontTx/>
              <a:buChar char="•"/>
            </a:pPr>
            <a:endParaRPr lang="fr-FR" b="1" noProof="0" dirty="0">
              <a:latin typeface="Baskerville Old Face" panose="02020602080505020303" pitchFamily="18" charset="77"/>
            </a:endParaRPr>
          </a:p>
          <a:p>
            <a:pPr lvl="0" algn="ctr" eaLnBrk="0" fontAlgn="base" hangingPunct="0">
              <a:spcBef>
                <a:spcPct val="0"/>
              </a:spcBef>
              <a:spcAft>
                <a:spcPct val="0"/>
              </a:spcAft>
              <a:buFontTx/>
              <a:buChar char="•"/>
            </a:pPr>
            <a:r>
              <a:rPr lang="fr-FR" b="1" noProof="0" dirty="0">
                <a:latin typeface="Baskerville Old Face" panose="02020602080505020303" pitchFamily="18" charset="77"/>
              </a:rPr>
              <a:t>Vision d’excellence</a:t>
            </a:r>
          </a:p>
          <a:p>
            <a:pPr lvl="0" algn="ctr" eaLnBrk="0" fontAlgn="base" hangingPunct="0">
              <a:spcBef>
                <a:spcPct val="0"/>
              </a:spcBef>
              <a:spcAft>
                <a:spcPct val="0"/>
              </a:spcAft>
            </a:pPr>
            <a:r>
              <a:rPr lang="fr-FR" noProof="0" dirty="0">
                <a:latin typeface="Baskerville Old Face" panose="02020602080505020303" pitchFamily="18" charset="77"/>
              </a:rPr>
              <a:t>travail constant vers la justesse et la maîtrise du geste.</a:t>
            </a:r>
          </a:p>
        </p:txBody>
      </p:sp>
      <p:pic>
        <p:nvPicPr>
          <p:cNvPr id="25" name="Image 24" descr="Une image contenant texte, Police, graphisme, Graphique&#10;&#10;Le contenu généré par l’IA peut être incorrect.">
            <a:extLst>
              <a:ext uri="{FF2B5EF4-FFF2-40B4-BE49-F238E27FC236}">
                <a16:creationId xmlns:a16="http://schemas.microsoft.com/office/drawing/2014/main" id="{73878F4F-6D0C-BDDD-6994-098402647255}"/>
              </a:ext>
            </a:extLst>
          </p:cNvPr>
          <p:cNvPicPr>
            <a:picLocks noChangeAspect="1"/>
          </p:cNvPicPr>
          <p:nvPr/>
        </p:nvPicPr>
        <p:blipFill>
          <a:blip r:embed="rId4"/>
          <a:stretch>
            <a:fillRect/>
          </a:stretch>
        </p:blipFill>
        <p:spPr>
          <a:xfrm>
            <a:off x="0" y="0"/>
            <a:ext cx="1598024" cy="1523157"/>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62697" y="-52585"/>
            <a:ext cx="4166830" cy="520898"/>
          </a:xfrm>
          <a:prstGeom prst="rect">
            <a:avLst/>
          </a:prstGeom>
          <a:noFill/>
          <a:ln/>
        </p:spPr>
        <p:txBody>
          <a:bodyPr wrap="none" lIns="0" tIns="0" rIns="0" bIns="0" rtlCol="0" anchor="t"/>
          <a:lstStyle/>
          <a:p>
            <a:pPr marL="0" indent="0" algn="l">
              <a:lnSpc>
                <a:spcPts val="4100"/>
              </a:lnSpc>
              <a:buNone/>
            </a:pPr>
            <a:r>
              <a:rPr lang="fr-FR" sz="3250" b="1" noProof="0" dirty="0">
                <a:solidFill>
                  <a:srgbClr val="FBF3FA"/>
                </a:solidFill>
                <a:latin typeface="Baskerville Old Face" panose="02020602080505020303" pitchFamily="18" charset="77"/>
                <a:ea typeface="Fira Mono Medium" pitchFamily="34" charset="-122"/>
                <a:cs typeface="Fira Mono Medium" pitchFamily="34" charset="-120"/>
              </a:rPr>
              <a:t>Notre vision</a:t>
            </a:r>
            <a:endParaRPr lang="fr-FR" sz="3250" b="1" noProof="0" dirty="0">
              <a:latin typeface="Baskerville Old Face" panose="02020602080505020303" pitchFamily="18" charset="77"/>
            </a:endParaRPr>
          </a:p>
        </p:txBody>
      </p:sp>
      <p:sp>
        <p:nvSpPr>
          <p:cNvPr id="3" name="Text 1"/>
          <p:cNvSpPr/>
          <p:nvPr/>
        </p:nvSpPr>
        <p:spPr>
          <a:xfrm>
            <a:off x="500062" y="344329"/>
            <a:ext cx="13770573" cy="1003050"/>
          </a:xfrm>
          <a:prstGeom prst="rect">
            <a:avLst/>
          </a:prstGeom>
          <a:noFill/>
          <a:ln/>
        </p:spPr>
        <p:txBody>
          <a:bodyPr wrap="square" lIns="0" tIns="0" rIns="0" bIns="0" rtlCol="0" anchor="t"/>
          <a:lstStyle/>
          <a:p>
            <a:pPr marL="0" indent="0" algn="ctr">
              <a:lnSpc>
                <a:spcPts val="8200"/>
              </a:lnSpc>
              <a:buNone/>
            </a:pPr>
            <a:r>
              <a:rPr lang="fr-FR" sz="6550" noProof="0" dirty="0">
                <a:solidFill>
                  <a:srgbClr val="3371A5"/>
                </a:solidFill>
                <a:latin typeface="Baskerville Old Face" panose="02020602080505020303" pitchFamily="18" charset="77"/>
                <a:ea typeface="Fira Mono Medium" pitchFamily="34" charset="-122"/>
                <a:cs typeface="Fira Mono Medium" pitchFamily="34" charset="-120"/>
              </a:rPr>
              <a:t>Faire de CYDILY un label d’Excellence</a:t>
            </a:r>
            <a:endParaRPr lang="fr-FR" sz="6550" noProof="0" dirty="0">
              <a:latin typeface="Baskerville Old Face" panose="02020602080505020303" pitchFamily="18" charset="77"/>
            </a:endParaRPr>
          </a:p>
        </p:txBody>
      </p:sp>
      <p:sp>
        <p:nvSpPr>
          <p:cNvPr id="4" name="Text 2"/>
          <p:cNvSpPr/>
          <p:nvPr/>
        </p:nvSpPr>
        <p:spPr>
          <a:xfrm>
            <a:off x="498053" y="1986447"/>
            <a:ext cx="5307142" cy="3012785"/>
          </a:xfrm>
          <a:prstGeom prst="rect">
            <a:avLst/>
          </a:prstGeom>
          <a:noFill/>
          <a:ln/>
        </p:spPr>
        <p:txBody>
          <a:bodyPr wrap="square" lIns="0" tIns="0" rIns="0" bIns="0" rtlCol="0" anchor="t"/>
          <a:lstStyle/>
          <a:p>
            <a:pPr marL="0" indent="0" algn="ctr">
              <a:buNone/>
            </a:pPr>
            <a:r>
              <a:rPr lang="fr-FR" sz="2400" b="1" noProof="0" dirty="0">
                <a:latin typeface="Baskerville Old Face" panose="02020602080505020303" pitchFamily="18" charset="77"/>
                <a:ea typeface="Fira Sans" pitchFamily="34" charset="-122"/>
                <a:cs typeface="Al Tarikh" pitchFamily="2" charset="-78"/>
              </a:rPr>
              <a:t>Notre ambition stratégique est claire et déterminée !</a:t>
            </a:r>
          </a:p>
          <a:p>
            <a:pPr marL="0" indent="0" algn="ctr">
              <a:buNone/>
            </a:pPr>
            <a:r>
              <a:rPr lang="fr-FR" sz="2400" b="1" noProof="0" dirty="0">
                <a:latin typeface="Baskerville Old Face" panose="02020602080505020303" pitchFamily="18" charset="77"/>
                <a:ea typeface="Fira Sans" pitchFamily="34" charset="-122"/>
                <a:cs typeface="Al Tarikh" pitchFamily="2" charset="-78"/>
              </a:rPr>
              <a:t>Consolider nos méthodes et travailler en partenariat à ce que la qualité devienne une habitude durable dans le cadre de nos formations.</a:t>
            </a:r>
          </a:p>
          <a:p>
            <a:pPr marL="0" indent="0" algn="ctr">
              <a:lnSpc>
                <a:spcPts val="2050"/>
              </a:lnSpc>
              <a:buNone/>
            </a:pPr>
            <a:endParaRPr lang="fr-FR" sz="2400" b="1" noProof="0" dirty="0">
              <a:solidFill>
                <a:srgbClr val="FF40FF"/>
              </a:solidFill>
              <a:latin typeface="Baskerville Old Face" panose="02020602080505020303" pitchFamily="18" charset="77"/>
              <a:ea typeface="Fira Sans" pitchFamily="34" charset="-122"/>
              <a:cs typeface="Al Tarikh" pitchFamily="2" charset="-78"/>
            </a:endParaRPr>
          </a:p>
          <a:p>
            <a:pPr marL="0" indent="0" algn="ctr">
              <a:buNone/>
            </a:pPr>
            <a:r>
              <a:rPr lang="fr-FR" sz="2400" b="1" noProof="0" dirty="0">
                <a:solidFill>
                  <a:srgbClr val="47038B"/>
                </a:solidFill>
                <a:latin typeface="Baskerville Old Face" panose="02020602080505020303" pitchFamily="18" charset="77"/>
                <a:ea typeface="Fira Sans" pitchFamily="34" charset="-122"/>
                <a:cs typeface="Al Tarikh" pitchFamily="2" charset="-78"/>
              </a:rPr>
              <a:t>Nous voulons contribuer activement à la professionnalisation durable et structurée des secteurs clés qui font battre l'économie en Afrique.</a:t>
            </a:r>
            <a:endParaRPr lang="fr-FR" sz="2400" b="1" noProof="0" dirty="0">
              <a:solidFill>
                <a:srgbClr val="47038B"/>
              </a:solidFill>
              <a:latin typeface="Baskerville Old Face" panose="02020602080505020303" pitchFamily="18" charset="77"/>
            </a:endParaRPr>
          </a:p>
        </p:txBody>
      </p:sp>
      <p:sp>
        <p:nvSpPr>
          <p:cNvPr id="5" name="Text 3"/>
          <p:cNvSpPr/>
          <p:nvPr/>
        </p:nvSpPr>
        <p:spPr>
          <a:xfrm>
            <a:off x="6404321" y="1420304"/>
            <a:ext cx="7226003" cy="533400"/>
          </a:xfrm>
          <a:prstGeom prst="rect">
            <a:avLst/>
          </a:prstGeom>
          <a:noFill/>
          <a:ln/>
        </p:spPr>
        <p:txBody>
          <a:bodyPr wrap="square" lIns="0" tIns="0" rIns="0" bIns="0" rtlCol="0" anchor="t"/>
          <a:lstStyle/>
          <a:p>
            <a:pPr marL="0" indent="0" algn="ctr">
              <a:lnSpc>
                <a:spcPts val="2050"/>
              </a:lnSpc>
              <a:buNone/>
            </a:pPr>
            <a:r>
              <a:rPr lang="fr-FR" sz="2000" b="1" i="1" noProof="0" dirty="0">
                <a:solidFill>
                  <a:schemeClr val="bg1"/>
                </a:solidFill>
                <a:latin typeface="Baskerville Old Face" panose="02020602080505020303" pitchFamily="18" charset="77"/>
                <a:ea typeface="Fira Sans" pitchFamily="34" charset="-122"/>
                <a:cs typeface="Fira Sans" pitchFamily="34" charset="-120"/>
              </a:rPr>
              <a:t>Nous construisons aujourd'hui le standard de demain</a:t>
            </a:r>
            <a:r>
              <a:rPr lang="fr-FR" sz="2000" i="1" noProof="0" dirty="0">
                <a:solidFill>
                  <a:schemeClr val="bg1"/>
                </a:solidFill>
                <a:latin typeface="Baskerville Old Face" panose="02020602080505020303" pitchFamily="18" charset="77"/>
                <a:ea typeface="Fira Sans" pitchFamily="34" charset="-122"/>
                <a:cs typeface="Fira Sans" pitchFamily="34" charset="-120"/>
              </a:rPr>
              <a:t>!</a:t>
            </a:r>
            <a:endParaRPr lang="fr-FR" sz="2000" i="1" noProof="0" dirty="0">
              <a:solidFill>
                <a:schemeClr val="bg1"/>
              </a:solidFill>
              <a:latin typeface="Baskerville Old Face" panose="02020602080505020303" pitchFamily="18" charset="77"/>
            </a:endParaRPr>
          </a:p>
        </p:txBody>
      </p:sp>
      <p:sp>
        <p:nvSpPr>
          <p:cNvPr id="6" name="Shape 4"/>
          <p:cNvSpPr/>
          <p:nvPr/>
        </p:nvSpPr>
        <p:spPr>
          <a:xfrm>
            <a:off x="916543" y="5937052"/>
            <a:ext cx="4071223" cy="166568"/>
          </a:xfrm>
          <a:prstGeom prst="roundRect">
            <a:avLst>
              <a:gd name="adj" fmla="val 15010"/>
            </a:avLst>
          </a:prstGeom>
          <a:solidFill>
            <a:srgbClr val="2E2E2F"/>
          </a:solidFill>
          <a:ln/>
        </p:spPr>
        <p:txBody>
          <a:bodyPr/>
          <a:lstStyle/>
          <a:p>
            <a:endParaRPr lang="fr-FR" noProof="0" dirty="0"/>
          </a:p>
        </p:txBody>
      </p:sp>
      <p:sp>
        <p:nvSpPr>
          <p:cNvPr id="7" name="Shape 5"/>
          <p:cNvSpPr/>
          <p:nvPr/>
        </p:nvSpPr>
        <p:spPr>
          <a:xfrm>
            <a:off x="666631" y="5770305"/>
            <a:ext cx="499943" cy="499943"/>
          </a:xfrm>
          <a:prstGeom prst="roundRect">
            <a:avLst>
              <a:gd name="adj" fmla="val 91450"/>
            </a:avLst>
          </a:prstGeom>
          <a:solidFill>
            <a:srgbClr val="2E2E2F"/>
          </a:solidFill>
          <a:ln/>
        </p:spPr>
        <p:txBody>
          <a:bodyPr/>
          <a:lstStyle/>
          <a:p>
            <a:endParaRPr lang="fr-FR" noProof="0" dirty="0"/>
          </a:p>
        </p:txBody>
      </p:sp>
      <p:pic>
        <p:nvPicPr>
          <p:cNvPr id="8" name="Image 0" descr="preencoded.png"/>
          <p:cNvPicPr>
            <a:picLocks noChangeAspect="1"/>
          </p:cNvPicPr>
          <p:nvPr/>
        </p:nvPicPr>
        <p:blipFill>
          <a:blip r:embed="rId3"/>
          <a:stretch>
            <a:fillRect/>
          </a:stretch>
        </p:blipFill>
        <p:spPr>
          <a:xfrm>
            <a:off x="791647" y="5864126"/>
            <a:ext cx="249912" cy="312420"/>
          </a:xfrm>
          <a:prstGeom prst="rect">
            <a:avLst/>
          </a:prstGeom>
        </p:spPr>
      </p:pic>
      <p:sp>
        <p:nvSpPr>
          <p:cNvPr id="9" name="Text 6"/>
          <p:cNvSpPr/>
          <p:nvPr/>
        </p:nvSpPr>
        <p:spPr>
          <a:xfrm>
            <a:off x="833199" y="6436876"/>
            <a:ext cx="3988118" cy="520779"/>
          </a:xfrm>
          <a:prstGeom prst="rect">
            <a:avLst/>
          </a:prstGeom>
          <a:noFill/>
          <a:ln/>
        </p:spPr>
        <p:txBody>
          <a:bodyPr wrap="square" lIns="0" tIns="0" rIns="0" bIns="0" rtlCol="0" anchor="t"/>
          <a:lstStyle/>
          <a:p>
            <a:pPr marL="0" indent="0" algn="ctr">
              <a:lnSpc>
                <a:spcPts val="2050"/>
              </a:lnSpc>
              <a:buNone/>
            </a:pPr>
            <a:r>
              <a:rPr lang="fr-FR" sz="2400" noProof="0" dirty="0">
                <a:solidFill>
                  <a:schemeClr val="accent1"/>
                </a:solidFill>
                <a:latin typeface="Baskerville Old Face" panose="02020602080505020303" pitchFamily="18" charset="77"/>
                <a:ea typeface="Fira Mono Medium" pitchFamily="34" charset="-122"/>
                <a:cs typeface="Fira Mono Medium" pitchFamily="34" charset="-120"/>
              </a:rPr>
              <a:t>Déploiement régional stratégique</a:t>
            </a:r>
            <a:endParaRPr lang="fr-FR" sz="2400" noProof="0" dirty="0">
              <a:solidFill>
                <a:schemeClr val="accent1"/>
              </a:solidFill>
              <a:latin typeface="Baskerville Old Face" panose="02020602080505020303" pitchFamily="18" charset="77"/>
            </a:endParaRPr>
          </a:p>
        </p:txBody>
      </p:sp>
      <p:sp>
        <p:nvSpPr>
          <p:cNvPr id="10" name="Text 7"/>
          <p:cNvSpPr/>
          <p:nvPr/>
        </p:nvSpPr>
        <p:spPr>
          <a:xfrm>
            <a:off x="833199" y="7057549"/>
            <a:ext cx="3988118" cy="533400"/>
          </a:xfrm>
          <a:prstGeom prst="rect">
            <a:avLst/>
          </a:prstGeom>
          <a:noFill/>
          <a:ln/>
        </p:spPr>
        <p:txBody>
          <a:bodyPr wrap="square" lIns="0" tIns="0" rIns="0" bIns="0" rtlCol="0" anchor="t"/>
          <a:lstStyle/>
          <a:p>
            <a:pPr marL="0" indent="0" algn="l">
              <a:lnSpc>
                <a:spcPts val="2050"/>
              </a:lnSpc>
              <a:buNone/>
            </a:pPr>
            <a:r>
              <a:rPr lang="fr-FR" sz="2000" noProof="0" dirty="0">
                <a:latin typeface="Baskerville Old Face" panose="02020602080505020303" pitchFamily="18" charset="77"/>
                <a:ea typeface="Fira Sans" pitchFamily="34" charset="-122"/>
                <a:cs typeface="Fira Sans" pitchFamily="34" charset="-120"/>
              </a:rPr>
              <a:t>Extension progressive vers les principales villes du Sénégal et les capitales d'Afrique de l'Ouest</a:t>
            </a:r>
            <a:endParaRPr lang="fr-FR" sz="2000" noProof="0" dirty="0">
              <a:latin typeface="Baskerville Old Face" panose="02020602080505020303" pitchFamily="18" charset="77"/>
            </a:endParaRPr>
          </a:p>
        </p:txBody>
      </p:sp>
      <p:sp>
        <p:nvSpPr>
          <p:cNvPr id="11" name="Shape 8"/>
          <p:cNvSpPr/>
          <p:nvPr/>
        </p:nvSpPr>
        <p:spPr>
          <a:xfrm>
            <a:off x="5404366" y="5687020"/>
            <a:ext cx="4071342" cy="166568"/>
          </a:xfrm>
          <a:prstGeom prst="roundRect">
            <a:avLst>
              <a:gd name="adj" fmla="val 15010"/>
            </a:avLst>
          </a:prstGeom>
          <a:solidFill>
            <a:srgbClr val="2E2E2F"/>
          </a:solidFill>
          <a:ln/>
        </p:spPr>
        <p:txBody>
          <a:bodyPr/>
          <a:lstStyle/>
          <a:p>
            <a:endParaRPr lang="fr-FR" noProof="0" dirty="0"/>
          </a:p>
        </p:txBody>
      </p:sp>
      <p:sp>
        <p:nvSpPr>
          <p:cNvPr id="12" name="Shape 9"/>
          <p:cNvSpPr/>
          <p:nvPr/>
        </p:nvSpPr>
        <p:spPr>
          <a:xfrm>
            <a:off x="5154454" y="5520273"/>
            <a:ext cx="499943" cy="499943"/>
          </a:xfrm>
          <a:prstGeom prst="roundRect">
            <a:avLst>
              <a:gd name="adj" fmla="val 91450"/>
            </a:avLst>
          </a:prstGeom>
          <a:solidFill>
            <a:srgbClr val="2E2E2F"/>
          </a:solidFill>
          <a:ln/>
        </p:spPr>
        <p:txBody>
          <a:bodyPr/>
          <a:lstStyle/>
          <a:p>
            <a:endParaRPr lang="fr-FR" noProof="0" dirty="0"/>
          </a:p>
        </p:txBody>
      </p:sp>
      <p:pic>
        <p:nvPicPr>
          <p:cNvPr id="13" name="Image 1" descr="preencoded.png"/>
          <p:cNvPicPr>
            <a:picLocks noChangeAspect="1"/>
          </p:cNvPicPr>
          <p:nvPr/>
        </p:nvPicPr>
        <p:blipFill>
          <a:blip r:embed="rId4"/>
          <a:stretch>
            <a:fillRect/>
          </a:stretch>
        </p:blipFill>
        <p:spPr>
          <a:xfrm>
            <a:off x="5279469" y="5614095"/>
            <a:ext cx="249912" cy="312420"/>
          </a:xfrm>
          <a:prstGeom prst="rect">
            <a:avLst/>
          </a:prstGeom>
        </p:spPr>
      </p:pic>
      <p:sp>
        <p:nvSpPr>
          <p:cNvPr id="14" name="Text 10"/>
          <p:cNvSpPr/>
          <p:nvPr/>
        </p:nvSpPr>
        <p:spPr>
          <a:xfrm>
            <a:off x="5321022" y="6186845"/>
            <a:ext cx="3988237" cy="520779"/>
          </a:xfrm>
          <a:prstGeom prst="rect">
            <a:avLst/>
          </a:prstGeom>
          <a:noFill/>
          <a:ln/>
        </p:spPr>
        <p:txBody>
          <a:bodyPr wrap="square" lIns="0" tIns="0" rIns="0" bIns="0" rtlCol="0" anchor="t"/>
          <a:lstStyle/>
          <a:p>
            <a:pPr marL="0" indent="0" algn="ctr">
              <a:lnSpc>
                <a:spcPts val="2050"/>
              </a:lnSpc>
              <a:buNone/>
            </a:pPr>
            <a:r>
              <a:rPr lang="fr-FR" sz="2400" noProof="0" dirty="0">
                <a:solidFill>
                  <a:schemeClr val="accent1"/>
                </a:solidFill>
                <a:latin typeface="Baskerville Old Face" panose="02020602080505020303" pitchFamily="18" charset="77"/>
                <a:ea typeface="Fira Mono Medium" pitchFamily="34" charset="-122"/>
                <a:cs typeface="Fira Mono Medium" pitchFamily="34" charset="-120"/>
              </a:rPr>
              <a:t>Partenariats institutionnels et privés</a:t>
            </a:r>
            <a:endParaRPr lang="fr-FR" sz="2400" noProof="0" dirty="0">
              <a:solidFill>
                <a:schemeClr val="accent1"/>
              </a:solidFill>
              <a:latin typeface="Baskerville Old Face" panose="02020602080505020303" pitchFamily="18" charset="77"/>
            </a:endParaRPr>
          </a:p>
        </p:txBody>
      </p:sp>
      <p:sp>
        <p:nvSpPr>
          <p:cNvPr id="15" name="Text 11"/>
          <p:cNvSpPr/>
          <p:nvPr/>
        </p:nvSpPr>
        <p:spPr>
          <a:xfrm>
            <a:off x="5154454" y="6807517"/>
            <a:ext cx="4154687" cy="800100"/>
          </a:xfrm>
          <a:prstGeom prst="rect">
            <a:avLst/>
          </a:prstGeom>
          <a:noFill/>
          <a:ln/>
        </p:spPr>
        <p:txBody>
          <a:bodyPr wrap="square" lIns="0" tIns="0" rIns="0" bIns="0" rtlCol="0" anchor="t"/>
          <a:lstStyle/>
          <a:p>
            <a:pPr marL="0" indent="0" algn="l">
              <a:lnSpc>
                <a:spcPts val="2050"/>
              </a:lnSpc>
              <a:buNone/>
            </a:pPr>
            <a:r>
              <a:rPr lang="fr-FR" sz="2000" noProof="0" dirty="0">
                <a:latin typeface="Baskerville Old Face" panose="02020602080505020303" pitchFamily="18" charset="77"/>
                <a:ea typeface="Fira Sans" pitchFamily="34" charset="-122"/>
                <a:cs typeface="Fira Sans" pitchFamily="34" charset="-120"/>
              </a:rPr>
              <a:t>Alliances avec ministères, grandes entreprises et organisations africaines et internationales pour maximiser l'impact</a:t>
            </a:r>
            <a:endParaRPr lang="fr-FR" sz="2000" noProof="0" dirty="0">
              <a:latin typeface="Baskerville Old Face" panose="02020602080505020303" pitchFamily="18" charset="77"/>
            </a:endParaRPr>
          </a:p>
        </p:txBody>
      </p:sp>
      <p:sp>
        <p:nvSpPr>
          <p:cNvPr id="16" name="Shape 12"/>
          <p:cNvSpPr/>
          <p:nvPr/>
        </p:nvSpPr>
        <p:spPr>
          <a:xfrm>
            <a:off x="9892308" y="5437108"/>
            <a:ext cx="4071342" cy="166568"/>
          </a:xfrm>
          <a:prstGeom prst="roundRect">
            <a:avLst>
              <a:gd name="adj" fmla="val 15010"/>
            </a:avLst>
          </a:prstGeom>
          <a:solidFill>
            <a:srgbClr val="2E2E2F"/>
          </a:solidFill>
          <a:ln/>
        </p:spPr>
        <p:txBody>
          <a:bodyPr/>
          <a:lstStyle/>
          <a:p>
            <a:endParaRPr lang="fr-FR" noProof="0" dirty="0"/>
          </a:p>
        </p:txBody>
      </p:sp>
      <p:sp>
        <p:nvSpPr>
          <p:cNvPr id="17" name="Shape 13"/>
          <p:cNvSpPr/>
          <p:nvPr/>
        </p:nvSpPr>
        <p:spPr>
          <a:xfrm>
            <a:off x="9642396" y="5270361"/>
            <a:ext cx="499943" cy="499943"/>
          </a:xfrm>
          <a:prstGeom prst="roundRect">
            <a:avLst>
              <a:gd name="adj" fmla="val 91450"/>
            </a:avLst>
          </a:prstGeom>
          <a:solidFill>
            <a:srgbClr val="2E2E2F"/>
          </a:solidFill>
          <a:ln/>
        </p:spPr>
        <p:txBody>
          <a:bodyPr/>
          <a:lstStyle/>
          <a:p>
            <a:endParaRPr lang="fr-FR" noProof="0" dirty="0"/>
          </a:p>
        </p:txBody>
      </p:sp>
      <p:pic>
        <p:nvPicPr>
          <p:cNvPr id="18" name="Image 2" descr="preencoded.png"/>
          <p:cNvPicPr>
            <a:picLocks noChangeAspect="1"/>
          </p:cNvPicPr>
          <p:nvPr/>
        </p:nvPicPr>
        <p:blipFill>
          <a:blip r:embed="rId5"/>
          <a:stretch>
            <a:fillRect/>
          </a:stretch>
        </p:blipFill>
        <p:spPr>
          <a:xfrm>
            <a:off x="9767411" y="5364182"/>
            <a:ext cx="249912" cy="312420"/>
          </a:xfrm>
          <a:prstGeom prst="rect">
            <a:avLst/>
          </a:prstGeom>
        </p:spPr>
      </p:pic>
      <p:sp>
        <p:nvSpPr>
          <p:cNvPr id="19" name="Text 14"/>
          <p:cNvSpPr/>
          <p:nvPr/>
        </p:nvSpPr>
        <p:spPr>
          <a:xfrm>
            <a:off x="9808964" y="5936933"/>
            <a:ext cx="3988237" cy="520779"/>
          </a:xfrm>
          <a:prstGeom prst="rect">
            <a:avLst/>
          </a:prstGeom>
          <a:noFill/>
          <a:ln/>
        </p:spPr>
        <p:txBody>
          <a:bodyPr wrap="square" lIns="0" tIns="0" rIns="0" bIns="0" rtlCol="0" anchor="t"/>
          <a:lstStyle/>
          <a:p>
            <a:pPr marL="0" indent="0" algn="ctr">
              <a:lnSpc>
                <a:spcPts val="2050"/>
              </a:lnSpc>
              <a:buNone/>
            </a:pPr>
            <a:r>
              <a:rPr lang="fr-FR" sz="2400" noProof="0" dirty="0">
                <a:solidFill>
                  <a:schemeClr val="accent1"/>
                </a:solidFill>
                <a:latin typeface="Baskerville Old Face" panose="02020602080505020303" pitchFamily="18" charset="77"/>
                <a:ea typeface="Fira Mono Medium" pitchFamily="34" charset="-122"/>
                <a:cs typeface="Fira Mono Medium" pitchFamily="34" charset="-120"/>
              </a:rPr>
              <a:t>Programmes de certification à impact social</a:t>
            </a:r>
            <a:endParaRPr lang="fr-FR" sz="2400" noProof="0" dirty="0">
              <a:solidFill>
                <a:schemeClr val="accent1"/>
              </a:solidFill>
              <a:latin typeface="Baskerville Old Face" panose="02020602080505020303" pitchFamily="18" charset="77"/>
            </a:endParaRPr>
          </a:p>
        </p:txBody>
      </p:sp>
      <p:sp>
        <p:nvSpPr>
          <p:cNvPr id="20" name="Text 15"/>
          <p:cNvSpPr/>
          <p:nvPr/>
        </p:nvSpPr>
        <p:spPr>
          <a:xfrm>
            <a:off x="9808964" y="6557605"/>
            <a:ext cx="3988237" cy="533400"/>
          </a:xfrm>
          <a:prstGeom prst="rect">
            <a:avLst/>
          </a:prstGeom>
          <a:noFill/>
          <a:ln/>
        </p:spPr>
        <p:txBody>
          <a:bodyPr wrap="square" lIns="0" tIns="0" rIns="0" bIns="0" rtlCol="0" anchor="t"/>
          <a:lstStyle/>
          <a:p>
            <a:pPr marL="0" indent="0" algn="l">
              <a:lnSpc>
                <a:spcPts val="2050"/>
              </a:lnSpc>
              <a:buNone/>
            </a:pPr>
            <a:r>
              <a:rPr lang="fr-FR" sz="2000" noProof="0" dirty="0">
                <a:latin typeface="Baskerville Old Face" panose="02020602080505020303" pitchFamily="18" charset="77"/>
                <a:ea typeface="Fira Sans" pitchFamily="34" charset="-122"/>
                <a:cs typeface="Fira Sans" pitchFamily="34" charset="-120"/>
              </a:rPr>
              <a:t>Formations accessibles bientôt  certifiantes créant emplois décents et dignité professionnelle pour tous</a:t>
            </a:r>
            <a:endParaRPr lang="fr-FR" sz="2000" noProof="0" dirty="0">
              <a:latin typeface="Baskerville Old Face" panose="02020602080505020303" pitchFamily="18" charset="77"/>
            </a:endParaRPr>
          </a:p>
        </p:txBody>
      </p:sp>
      <p:pic>
        <p:nvPicPr>
          <p:cNvPr id="27" name="Image 26" descr="Une image contenant texte, Police, logo, carte de visite&#10;&#10;Le contenu généré par l’IA peut être incorrect.">
            <a:extLst>
              <a:ext uri="{FF2B5EF4-FFF2-40B4-BE49-F238E27FC236}">
                <a16:creationId xmlns:a16="http://schemas.microsoft.com/office/drawing/2014/main" id="{463D94DF-1247-59EA-BAB2-676D9BFE495B}"/>
              </a:ext>
            </a:extLst>
          </p:cNvPr>
          <p:cNvPicPr>
            <a:picLocks noChangeAspect="1"/>
          </p:cNvPicPr>
          <p:nvPr/>
        </p:nvPicPr>
        <p:blipFill>
          <a:blip r:embed="rId6"/>
          <a:stretch>
            <a:fillRect/>
          </a:stretch>
        </p:blipFill>
        <p:spPr>
          <a:xfrm>
            <a:off x="6955949" y="1788246"/>
            <a:ext cx="6372779" cy="3409188"/>
          </a:xfrm>
          <a:prstGeom prst="rect">
            <a:avLst/>
          </a:prstGeom>
        </p:spPr>
      </p:pic>
      <p:pic>
        <p:nvPicPr>
          <p:cNvPr id="29" name="Image 28" descr="Une image contenant texte, Police, graphisme, Graphique&#10;&#10;Le contenu généré par l’IA peut être incorrect.">
            <a:extLst>
              <a:ext uri="{FF2B5EF4-FFF2-40B4-BE49-F238E27FC236}">
                <a16:creationId xmlns:a16="http://schemas.microsoft.com/office/drawing/2014/main" id="{B0526660-AD45-9830-3E4E-2BD058A58967}"/>
              </a:ext>
            </a:extLst>
          </p:cNvPr>
          <p:cNvPicPr>
            <a:picLocks noChangeAspect="1"/>
          </p:cNvPicPr>
          <p:nvPr/>
        </p:nvPicPr>
        <p:blipFill>
          <a:blip r:embed="rId7"/>
          <a:stretch>
            <a:fillRect/>
          </a:stretch>
        </p:blipFill>
        <p:spPr>
          <a:xfrm>
            <a:off x="-12454" y="-6853"/>
            <a:ext cx="679085" cy="70662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195230" y="-17872"/>
            <a:ext cx="7585652" cy="1860590"/>
          </a:xfrm>
          <a:prstGeom prst="rect">
            <a:avLst/>
          </a:prstGeom>
          <a:noFill/>
          <a:ln/>
        </p:spPr>
        <p:txBody>
          <a:bodyPr wrap="none" lIns="0" tIns="0" rIns="0" bIns="0" rtlCol="0" anchor="t"/>
          <a:lstStyle/>
          <a:p>
            <a:pPr marL="0" indent="0" algn="l">
              <a:lnSpc>
                <a:spcPts val="14650"/>
              </a:lnSpc>
              <a:buNone/>
            </a:pPr>
            <a:r>
              <a:rPr lang="fr-FR" sz="9900" noProof="0" dirty="0">
                <a:solidFill>
                  <a:srgbClr val="3371A5"/>
                </a:solidFill>
                <a:latin typeface="Baskerville Old Face" panose="02020602080505020303" pitchFamily="18" charset="77"/>
                <a:ea typeface="Fira Mono Medium" pitchFamily="34" charset="-122"/>
                <a:cs typeface="Fira Mono Medium" pitchFamily="34" charset="-120"/>
              </a:rPr>
              <a:t>CYDILY CBC</a:t>
            </a:r>
            <a:endParaRPr lang="fr-FR" sz="9900" noProof="0" dirty="0">
              <a:latin typeface="Baskerville Old Face" panose="02020602080505020303" pitchFamily="18" charset="77"/>
            </a:endParaRPr>
          </a:p>
        </p:txBody>
      </p:sp>
      <p:sp>
        <p:nvSpPr>
          <p:cNvPr id="3" name="Text 1"/>
          <p:cNvSpPr/>
          <p:nvPr/>
        </p:nvSpPr>
        <p:spPr>
          <a:xfrm>
            <a:off x="312711" y="1561113"/>
            <a:ext cx="7468171" cy="496133"/>
          </a:xfrm>
          <a:prstGeom prst="rect">
            <a:avLst/>
          </a:prstGeom>
          <a:noFill/>
          <a:ln/>
        </p:spPr>
        <p:txBody>
          <a:bodyPr wrap="none" lIns="0" tIns="0" rIns="0" bIns="0" rtlCol="0" anchor="t"/>
          <a:lstStyle/>
          <a:p>
            <a:pPr marL="0" indent="0" algn="l">
              <a:lnSpc>
                <a:spcPts val="3900"/>
              </a:lnSpc>
              <a:buNone/>
            </a:pPr>
            <a:r>
              <a:rPr lang="fr-FR" sz="3600" noProof="0" dirty="0">
                <a:latin typeface="Baskerville Old Face" panose="02020602080505020303" pitchFamily="18" charset="77"/>
                <a:ea typeface="Fira Mono Medium" pitchFamily="34" charset="-122"/>
                <a:cs typeface="Fira Mono Medium" pitchFamily="34" charset="-120"/>
              </a:rPr>
              <a:t>La compétence au service de la dignité humaine</a:t>
            </a:r>
            <a:endParaRPr lang="fr-FR" sz="3600" noProof="0" dirty="0">
              <a:latin typeface="Baskerville Old Face" panose="02020602080505020303" pitchFamily="18" charset="77"/>
            </a:endParaRPr>
          </a:p>
        </p:txBody>
      </p:sp>
      <p:sp>
        <p:nvSpPr>
          <p:cNvPr id="4" name="Text 2"/>
          <p:cNvSpPr/>
          <p:nvPr/>
        </p:nvSpPr>
        <p:spPr>
          <a:xfrm>
            <a:off x="771143" y="2883231"/>
            <a:ext cx="12745164" cy="952619"/>
          </a:xfrm>
          <a:prstGeom prst="rect">
            <a:avLst/>
          </a:prstGeom>
          <a:noFill/>
          <a:ln/>
        </p:spPr>
        <p:txBody>
          <a:bodyPr wrap="square" lIns="0" tIns="0" rIns="0" bIns="0" rtlCol="0" anchor="t"/>
          <a:lstStyle/>
          <a:p>
            <a:pPr marL="0" indent="0" algn="ctr">
              <a:lnSpc>
                <a:spcPts val="2500"/>
              </a:lnSpc>
              <a:buNone/>
            </a:pPr>
            <a:r>
              <a:rPr lang="fr-FR" sz="2800" noProof="0" dirty="0">
                <a:solidFill>
                  <a:srgbClr val="47038B"/>
                </a:solidFill>
                <a:latin typeface="Baskerville Old Face" panose="02020602080505020303" pitchFamily="18" charset="77"/>
                <a:ea typeface="Fira Sans" pitchFamily="34" charset="-122"/>
                <a:cs typeface="Fira Sans" pitchFamily="34" charset="-120"/>
              </a:rPr>
              <a:t>Parce que chaque métier mérite respect et reconnaissance, parce que l'excellence se construit par la rigueur, l’estime de soi et l'amour du travail bien fait, CYDILY s'engage à former des jeunes, des femmes et des hommes fiers de leur métier et indispensables à la société.</a:t>
            </a:r>
            <a:endParaRPr lang="fr-FR" sz="2800" noProof="0" dirty="0">
              <a:solidFill>
                <a:srgbClr val="47038B"/>
              </a:solidFill>
              <a:latin typeface="Baskerville Old Face" panose="02020602080505020303" pitchFamily="18" charset="77"/>
            </a:endParaRPr>
          </a:p>
        </p:txBody>
      </p:sp>
      <p:sp>
        <p:nvSpPr>
          <p:cNvPr id="5" name="Shape 3"/>
          <p:cNvSpPr/>
          <p:nvPr/>
        </p:nvSpPr>
        <p:spPr>
          <a:xfrm>
            <a:off x="468530" y="3365742"/>
            <a:ext cx="22860" cy="1081564"/>
          </a:xfrm>
          <a:prstGeom prst="rect">
            <a:avLst/>
          </a:prstGeom>
          <a:solidFill>
            <a:srgbClr val="FF6BD8"/>
          </a:solidFill>
          <a:ln/>
        </p:spPr>
        <p:txBody>
          <a:bodyPr/>
          <a:lstStyle/>
          <a:p>
            <a:endParaRPr lang="fr-FR" noProof="0" dirty="0"/>
          </a:p>
        </p:txBody>
      </p:sp>
      <p:sp>
        <p:nvSpPr>
          <p:cNvPr id="6" name="Text 4"/>
          <p:cNvSpPr/>
          <p:nvPr/>
        </p:nvSpPr>
        <p:spPr>
          <a:xfrm>
            <a:off x="1679244" y="4462911"/>
            <a:ext cx="10928962" cy="1292670"/>
          </a:xfrm>
          <a:prstGeom prst="rect">
            <a:avLst/>
          </a:prstGeom>
          <a:noFill/>
          <a:ln/>
        </p:spPr>
        <p:txBody>
          <a:bodyPr wrap="square" lIns="0" tIns="0" rIns="0" bIns="0" rtlCol="0" anchor="t"/>
          <a:lstStyle/>
          <a:p>
            <a:pPr marL="0" indent="0" algn="just">
              <a:lnSpc>
                <a:spcPts val="2500"/>
              </a:lnSpc>
              <a:buNone/>
            </a:pPr>
            <a:r>
              <a:rPr lang="fr-FR" sz="2400" noProof="0" dirty="0">
                <a:latin typeface="Baskerville Old Face" panose="02020602080505020303" pitchFamily="18" charset="77"/>
                <a:ea typeface="Fira Sans" pitchFamily="34" charset="-122"/>
                <a:cs typeface="Fira Sans" pitchFamily="34" charset="-120"/>
              </a:rPr>
              <a:t>Notre engagement quotidien est simple mais profonde. Nous voulons transformer des vies par la formation, élever des standards par l'exigence, et contribuer à bâtir une Afrique où chaque professionnel des métiers de service est reconnu pour sa compétence, exemplaire dans son comportement, respecté pour sa contribution, et fier de son excellence</a:t>
            </a:r>
            <a:r>
              <a:rPr lang="fr-FR" sz="2400" noProof="0" dirty="0">
                <a:latin typeface="Fira Sans" pitchFamily="34" charset="0"/>
                <a:ea typeface="Fira Sans" pitchFamily="34" charset="-122"/>
                <a:cs typeface="Fira Sans" pitchFamily="34" charset="-120"/>
              </a:rPr>
              <a:t>.</a:t>
            </a:r>
            <a:endParaRPr lang="fr-FR" sz="2400" noProof="0" dirty="0"/>
          </a:p>
        </p:txBody>
      </p:sp>
      <p:sp>
        <p:nvSpPr>
          <p:cNvPr id="7" name="Text 5"/>
          <p:cNvSpPr/>
          <p:nvPr/>
        </p:nvSpPr>
        <p:spPr>
          <a:xfrm>
            <a:off x="206634" y="7604378"/>
            <a:ext cx="6937091" cy="317540"/>
          </a:xfrm>
          <a:prstGeom prst="rect">
            <a:avLst/>
          </a:prstGeom>
          <a:noFill/>
          <a:ln/>
        </p:spPr>
        <p:txBody>
          <a:bodyPr wrap="none" lIns="0" tIns="0" rIns="0" bIns="0" rtlCol="0" anchor="t"/>
          <a:lstStyle/>
          <a:p>
            <a:pPr marL="0" indent="0" algn="l">
              <a:lnSpc>
                <a:spcPts val="2500"/>
              </a:lnSpc>
              <a:buNone/>
            </a:pPr>
            <a:r>
              <a:rPr lang="fr-FR" sz="1600" b="1" noProof="0" dirty="0">
                <a:solidFill>
                  <a:schemeClr val="accent1"/>
                </a:solidFill>
                <a:latin typeface="Fira Sans" pitchFamily="34" charset="0"/>
                <a:ea typeface="Fira Sans" pitchFamily="34" charset="-122"/>
                <a:cs typeface="Fira Sans" pitchFamily="34" charset="-120"/>
              </a:rPr>
              <a:t>Ensemble, construisons l'avenir de l'excellence professionnelle en Afrique.</a:t>
            </a:r>
            <a:endParaRPr lang="fr-FR" sz="1600" noProof="0" dirty="0">
              <a:solidFill>
                <a:schemeClr val="accent1"/>
              </a:solidFill>
            </a:endParaRPr>
          </a:p>
        </p:txBody>
      </p:sp>
      <p:sp>
        <p:nvSpPr>
          <p:cNvPr id="13" name="ZoneTexte 12">
            <a:extLst>
              <a:ext uri="{FF2B5EF4-FFF2-40B4-BE49-F238E27FC236}">
                <a16:creationId xmlns:a16="http://schemas.microsoft.com/office/drawing/2014/main" id="{E5CD2933-CAB6-387E-EBE1-70BA41277066}"/>
              </a:ext>
            </a:extLst>
          </p:cNvPr>
          <p:cNvSpPr txBox="1"/>
          <p:nvPr/>
        </p:nvSpPr>
        <p:spPr>
          <a:xfrm>
            <a:off x="9594977" y="6444590"/>
            <a:ext cx="3921330" cy="1477328"/>
          </a:xfrm>
          <a:prstGeom prst="rect">
            <a:avLst/>
          </a:prstGeom>
          <a:noFill/>
        </p:spPr>
        <p:txBody>
          <a:bodyPr wrap="none" rtlCol="0">
            <a:spAutoFit/>
          </a:bodyPr>
          <a:lstStyle/>
          <a:p>
            <a:r>
              <a:rPr lang="fr-FR" b="1" noProof="0" dirty="0">
                <a:solidFill>
                  <a:schemeClr val="accent1"/>
                </a:solidFill>
              </a:rPr>
              <a:t>CYDILY CBC</a:t>
            </a:r>
          </a:p>
          <a:p>
            <a:r>
              <a:rPr lang="fr-FR" b="1" noProof="0" dirty="0"/>
              <a:t>Ouest Foire Cité Sonatel3 Villa 27</a:t>
            </a:r>
          </a:p>
          <a:p>
            <a:r>
              <a:rPr lang="fr-FR" b="1" noProof="0" dirty="0"/>
              <a:t>DAKAR</a:t>
            </a:r>
          </a:p>
          <a:p>
            <a:r>
              <a:rPr lang="fr-FR" b="1" noProof="0" dirty="0"/>
              <a:t>TEL  (+221) 78 290 84 79</a:t>
            </a:r>
          </a:p>
          <a:p>
            <a:r>
              <a:rPr lang="fr-FR" b="1" noProof="0" dirty="0"/>
              <a:t>Mail cydily.cbc@gmail.com</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Type de bois">
  <a:themeElements>
    <a:clrScheme name="Type de bois">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Type de bois">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Type de bois">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Type de bois</Template>
  <TotalTime>10645</TotalTime>
  <Words>1231</Words>
  <Application>Microsoft Office PowerPoint</Application>
  <PresentationFormat>Personnalisé</PresentationFormat>
  <Paragraphs>128</Paragraphs>
  <Slides>10</Slides>
  <Notes>9</Notes>
  <HiddenSlides>0</HiddenSlides>
  <MMClips>0</MMClips>
  <ScaleCrop>false</ScaleCrop>
  <HeadingPairs>
    <vt:vector size="6" baseType="variant">
      <vt:variant>
        <vt:lpstr>Polices utilisées</vt:lpstr>
      </vt:variant>
      <vt:variant>
        <vt:i4>9</vt:i4>
      </vt:variant>
      <vt:variant>
        <vt:lpstr>Thème</vt:lpstr>
      </vt:variant>
      <vt:variant>
        <vt:i4>1</vt:i4>
      </vt:variant>
      <vt:variant>
        <vt:lpstr>Titres des diapositives</vt:lpstr>
      </vt:variant>
      <vt:variant>
        <vt:i4>10</vt:i4>
      </vt:variant>
    </vt:vector>
  </HeadingPairs>
  <TitlesOfParts>
    <vt:vector size="20" baseType="lpstr">
      <vt:lpstr>Baskerville Old Face</vt:lpstr>
      <vt:lpstr>Fira Mono Light</vt:lpstr>
      <vt:lpstr>Californian FB</vt:lpstr>
      <vt:lpstr>Rockwell</vt:lpstr>
      <vt:lpstr>Wingdings</vt:lpstr>
      <vt:lpstr>Sakkal Majalla</vt:lpstr>
      <vt:lpstr>Rockwell Condensed</vt:lpstr>
      <vt:lpstr>Fira Sans</vt:lpstr>
      <vt:lpstr>Fira Mono Medium</vt:lpstr>
      <vt:lpstr>Type de bois</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Aissata DRAME</cp:lastModifiedBy>
  <cp:revision>14</cp:revision>
  <cp:lastPrinted>2025-10-20T14:09:42Z</cp:lastPrinted>
  <dcterms:created xsi:type="dcterms:W3CDTF">2025-10-13T10:30:03Z</dcterms:created>
  <dcterms:modified xsi:type="dcterms:W3CDTF">2026-04-08T15:45:44Z</dcterms:modified>
</cp:coreProperties>
</file>